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85" r:id="rId7"/>
    <p:sldId id="261" r:id="rId8"/>
    <p:sldId id="262" r:id="rId9"/>
    <p:sldId id="263" r:id="rId10"/>
    <p:sldId id="286"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280"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9" d="100"/>
          <a:sy n="89" d="100"/>
        </p:scale>
        <p:origin x="30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3914-A9A4-90B5-91A6-AD9C367FA7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D5DCE7-A358-946C-218D-4B82D24B2B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484F31-7647-D59B-621E-3D1554E4A2AD}"/>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AD524F16-7B2D-A713-434D-D5C3AB86FD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0478BE-D404-E2A7-D49A-C8EE3CA3F859}"/>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2790444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4ADB1-A06E-9AB2-2F7A-F7A5F383AD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1F3B11-97CD-2986-9C23-FDB54A0FB8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F51A8F-4F95-B4FF-3EF8-469C8264D6BF}"/>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89EE687D-580C-E4F0-1D81-A94B983505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749E50-1200-7EF1-623B-DA5DDDE6D813}"/>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2909066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D03A-A5DC-E002-9175-BAF190C2D3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5EBECB-A517-C6A7-EF97-2FE046FE4D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168396-4904-B487-94B7-356B3B16771B}"/>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D622D6EA-F0AE-9B43-B2E2-F0FB8B9E3C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DEAECD-B190-31A8-4A8C-F5818B27C635}"/>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2674365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D021E-E06C-2789-CBE0-000B343523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D59740-C8F4-81DC-650A-E946DCF489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A66A15-47DE-E107-503B-7924007FE7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5EBE45-B352-8E87-38F6-AE77BD6D17AD}"/>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Footer Placeholder 5">
            <a:extLst>
              <a:ext uri="{FF2B5EF4-FFF2-40B4-BE49-F238E27FC236}">
                <a16:creationId xmlns:a16="http://schemas.microsoft.com/office/drawing/2014/main" id="{0CEFDF11-B491-AD71-2482-CEC1FE556B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B38955-CA9B-A5C5-CE95-5052ED515386}"/>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91119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32CB-5898-F181-0B13-753AF22C29A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BF4C46-B8D1-4676-88CD-208E828DC0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81F086-D7B0-DEA3-AB21-2846A0D884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DDCAA2C-2CA1-EF34-6DDE-9F1DFC16B9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A319C2-233C-0C66-00AA-B8BFC491D6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7D23FC-D178-205A-6072-6FECB8039D7F}"/>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8" name="Footer Placeholder 7">
            <a:extLst>
              <a:ext uri="{FF2B5EF4-FFF2-40B4-BE49-F238E27FC236}">
                <a16:creationId xmlns:a16="http://schemas.microsoft.com/office/drawing/2014/main" id="{36BCEF5A-BEFA-4CAB-293C-0D107D23FB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D18CDA3-E23B-E4D4-8B6A-DCB99093DE20}"/>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978606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38DAF-C7C1-ED41-F2E6-DF61596D97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B52A14F-E637-07C4-C4CE-3562CC8A2550}"/>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4" name="Footer Placeholder 3">
            <a:extLst>
              <a:ext uri="{FF2B5EF4-FFF2-40B4-BE49-F238E27FC236}">
                <a16:creationId xmlns:a16="http://schemas.microsoft.com/office/drawing/2014/main" id="{B3D78679-A6E9-4C6E-9D57-B3648F914B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C5AF0F-65B8-C2FF-4BBD-8576DBFB2BE5}"/>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490434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FD8B75-5CFD-75D6-F60B-2F3638988106}"/>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3" name="Footer Placeholder 2">
            <a:extLst>
              <a:ext uri="{FF2B5EF4-FFF2-40B4-BE49-F238E27FC236}">
                <a16:creationId xmlns:a16="http://schemas.microsoft.com/office/drawing/2014/main" id="{1AC42AA5-7A46-0BC0-C881-21A99D5473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BBA9BC-4410-228A-A277-BA0A65D7F7EB}"/>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1145662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FCEA1-4F25-FE0C-8B48-391DF9B0E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4D76BA-C9A7-E589-254E-0954B0945F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02AB72-DB36-72A2-DD31-DE11998D2A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D5059-1990-6890-1B8B-030F05ABB67D}"/>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Footer Placeholder 5">
            <a:extLst>
              <a:ext uri="{FF2B5EF4-FFF2-40B4-BE49-F238E27FC236}">
                <a16:creationId xmlns:a16="http://schemas.microsoft.com/office/drawing/2014/main" id="{3BF03D38-044F-8E11-3FC2-E267BCB1E9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83243B-4F15-97ED-BA55-3F9A240EA2AC}"/>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298049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FA5B4-A9A4-3954-48A3-447743334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A97FC1-8625-110E-0786-BBA1282EE8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C63001-B53E-9F36-3DE0-8FBF34265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5AAED-5311-B2AC-4B46-EF28FBA1E76E}"/>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Footer Placeholder 5">
            <a:extLst>
              <a:ext uri="{FF2B5EF4-FFF2-40B4-BE49-F238E27FC236}">
                <a16:creationId xmlns:a16="http://schemas.microsoft.com/office/drawing/2014/main" id="{F9C44774-7454-C6CF-89D8-52DCEDA253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7D2849-685F-DEC7-F0D4-F77224AAE8AF}"/>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2685051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01512-82A7-BD86-6C5E-69058E83756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9B6474-0350-A179-7F6A-BEB289D37B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0E4716-20FA-6271-06E0-0ED816710E8B}"/>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BE87960A-61E6-B1FC-607B-29C6E06F02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4A4864-3674-9CA9-801B-53014041D210}"/>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125287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CDBBB-64ED-B20E-7ABD-6C52858341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B0D2-B454-BA0C-010A-2174CB68CD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493EA8-82B3-E37A-92CD-6B3420D3388C}"/>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4731E715-3F48-B345-1AFD-E92EAB7B96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828A7B-6655-6373-5A97-1DA0031B8CEE}"/>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343795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75779-12DB-7AA0-796C-C6083208BE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E180B2-81FA-77D7-C894-1D3254A7EF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9C6AF2-9C15-B13D-6C78-A439F5BBAB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D5E02ED3-606A-499A-8C56-8FCE4B1F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BA26E7-B74A-0ED2-B9FD-B0ED666781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2EDE93-77D5-43B1-990D-F2BD22E85A5B}" type="slidenum">
              <a:rPr lang="en-IN" smtClean="0"/>
              <a:t>‹#›</a:t>
            </a:fld>
            <a:endParaRPr lang="en-IN"/>
          </a:p>
        </p:txBody>
      </p:sp>
    </p:spTree>
    <p:extLst>
      <p:ext uri="{BB962C8B-B14F-4D97-AF65-F5344CB8AC3E}">
        <p14:creationId xmlns:p14="http://schemas.microsoft.com/office/powerpoint/2010/main" val="2824888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A29F7-C496-220A-6036-B03D67AF8674}"/>
              </a:ext>
            </a:extLst>
          </p:cNvPr>
          <p:cNvSpPr>
            <a:spLocks noGrp="1"/>
          </p:cNvSpPr>
          <p:nvPr>
            <p:ph type="ctrTitle"/>
          </p:nvPr>
        </p:nvSpPr>
        <p:spPr>
          <a:xfrm>
            <a:off x="1524000" y="895148"/>
            <a:ext cx="9144000" cy="2444817"/>
          </a:xfrm>
        </p:spPr>
        <p:txBody>
          <a:bodyPr>
            <a:normAutofit/>
          </a:bodyPr>
          <a:lstStyle/>
          <a:p>
            <a:r>
              <a:rPr lang="en-IN" sz="4400" spc="-10" dirty="0">
                <a:solidFill>
                  <a:srgbClr val="00B0F0"/>
                </a:solidFill>
                <a:latin typeface="Times New Roman" panose="02020603050405020304" pitchFamily="18" charset="0"/>
                <a:cs typeface="Times New Roman" panose="02020603050405020304" pitchFamily="18" charset="0"/>
              </a:rPr>
              <a:t>Database Management Systems Cornerstone Project</a:t>
            </a:r>
            <a:br>
              <a:rPr lang="en-IN" sz="6000" spc="-10" dirty="0">
                <a:solidFill>
                  <a:srgbClr val="00B0F0"/>
                </a:solidFill>
                <a:latin typeface="Times New Roman" panose="02020603050405020304" pitchFamily="18" charset="0"/>
                <a:cs typeface="Times New Roman" panose="02020603050405020304" pitchFamily="18" charset="0"/>
              </a:rPr>
            </a:br>
            <a:r>
              <a:rPr lang="en-IN" sz="4400" spc="-10" dirty="0">
                <a:solidFill>
                  <a:srgbClr val="C00000"/>
                </a:solidFill>
                <a:latin typeface="Times New Roman" panose="02020603050405020304" pitchFamily="18" charset="0"/>
                <a:cs typeface="Times New Roman" panose="02020603050405020304" pitchFamily="18" charset="0"/>
              </a:rPr>
              <a:t>Final Review (Review I &amp; II)</a:t>
            </a:r>
            <a:endParaRPr lang="en-IN" sz="4400" dirty="0">
              <a:solidFill>
                <a:srgbClr val="C00000"/>
              </a:solidFill>
            </a:endParaRPr>
          </a:p>
        </p:txBody>
      </p:sp>
      <p:sp>
        <p:nvSpPr>
          <p:cNvPr id="3" name="Subtitle 2">
            <a:extLst>
              <a:ext uri="{FF2B5EF4-FFF2-40B4-BE49-F238E27FC236}">
                <a16:creationId xmlns:a16="http://schemas.microsoft.com/office/drawing/2014/main" id="{9C7EF75A-53A4-9F59-8185-FBE1406C1D97}"/>
              </a:ext>
            </a:extLst>
          </p:cNvPr>
          <p:cNvSpPr>
            <a:spLocks noGrp="1"/>
          </p:cNvSpPr>
          <p:nvPr>
            <p:ph type="subTitle" idx="1"/>
          </p:nvPr>
        </p:nvSpPr>
        <p:spPr>
          <a:xfrm>
            <a:off x="1783884" y="3429000"/>
            <a:ext cx="9144000" cy="2683042"/>
          </a:xfrm>
        </p:spPr>
        <p:txBody>
          <a:bodyPr>
            <a:normAutofit fontScale="25000" lnSpcReduction="20000"/>
          </a:bodyPr>
          <a:lstStyle/>
          <a:p>
            <a:r>
              <a:rPr lang="en-IN" sz="9600" b="1" dirty="0">
                <a:solidFill>
                  <a:srgbClr val="7030A0"/>
                </a:solidFill>
              </a:rPr>
              <a:t>LIBRARY MANAGEMENT SYSTEM</a:t>
            </a:r>
          </a:p>
          <a:p>
            <a:r>
              <a:rPr lang="en-IN" sz="8000" b="1" dirty="0">
                <a:solidFill>
                  <a:srgbClr val="92D050"/>
                </a:solidFill>
              </a:rPr>
              <a:t>Presented by</a:t>
            </a:r>
          </a:p>
          <a:p>
            <a:r>
              <a:rPr lang="en-IN" sz="8000" b="1" dirty="0">
                <a:solidFill>
                  <a:srgbClr val="92D050"/>
                </a:solidFill>
              </a:rPr>
              <a:t>B.N.S.L.D.Rishitha-25B11AI103</a:t>
            </a:r>
          </a:p>
          <a:p>
            <a:r>
              <a:rPr lang="en-IN" sz="8000" b="1" dirty="0">
                <a:solidFill>
                  <a:srgbClr val="92D050"/>
                </a:solidFill>
              </a:rPr>
              <a:t>M.Vikranth-25B11AI413</a:t>
            </a:r>
          </a:p>
          <a:p>
            <a:r>
              <a:rPr lang="en-IN" sz="8000" b="1" dirty="0">
                <a:solidFill>
                  <a:srgbClr val="92D050"/>
                </a:solidFill>
              </a:rPr>
              <a:t>      </a:t>
            </a:r>
            <a:r>
              <a:rPr lang="en-IN" sz="8000" b="1" dirty="0" err="1">
                <a:solidFill>
                  <a:srgbClr val="92D050"/>
                </a:solidFill>
              </a:rPr>
              <a:t>B.Divya</a:t>
            </a:r>
            <a:r>
              <a:rPr lang="en-IN" sz="8000" b="1" dirty="0">
                <a:solidFill>
                  <a:srgbClr val="92D050"/>
                </a:solidFill>
              </a:rPr>
              <a:t> Teja-26B21AI119</a:t>
            </a:r>
          </a:p>
          <a:p>
            <a:endParaRPr lang="en-IN" sz="8000" b="1" dirty="0">
              <a:solidFill>
                <a:srgbClr val="92D050"/>
              </a:solidFill>
            </a:endParaRPr>
          </a:p>
          <a:p>
            <a:r>
              <a:rPr lang="en-US" sz="8000" dirty="0">
                <a:solidFill>
                  <a:srgbClr val="FF0000"/>
                </a:solidFill>
                <a:latin typeface="Times New Roman" panose="02020603050405020304" pitchFamily="18" charset="0"/>
                <a:cs typeface="Times New Roman" panose="02020603050405020304" pitchFamily="18" charset="0"/>
              </a:rPr>
              <a:t>Department</a:t>
            </a:r>
            <a:r>
              <a:rPr lang="en-US" sz="8000" spc="-60" dirty="0">
                <a:solidFill>
                  <a:srgbClr val="FF0000"/>
                </a:solidFill>
                <a:latin typeface="Times New Roman" panose="02020603050405020304" pitchFamily="18" charset="0"/>
                <a:cs typeface="Times New Roman" panose="02020603050405020304" pitchFamily="18" charset="0"/>
              </a:rPr>
              <a:t> </a:t>
            </a:r>
            <a:r>
              <a:rPr lang="en-US" sz="8000" dirty="0">
                <a:solidFill>
                  <a:srgbClr val="FF0000"/>
                </a:solidFill>
                <a:latin typeface="Times New Roman" panose="02020603050405020304" pitchFamily="18" charset="0"/>
                <a:cs typeface="Times New Roman" panose="02020603050405020304" pitchFamily="18" charset="0"/>
              </a:rPr>
              <a:t>of Artificial Intelligence &amp; Machine Learning</a:t>
            </a:r>
          </a:p>
          <a:p>
            <a:r>
              <a:rPr lang="en-IN" sz="8000" b="1" dirty="0">
                <a:solidFill>
                  <a:schemeClr val="tx2">
                    <a:lumMod val="50000"/>
                  </a:schemeClr>
                </a:solidFill>
              </a:rPr>
              <a:t>SUBMITTED TO:</a:t>
            </a:r>
          </a:p>
          <a:p>
            <a:r>
              <a:rPr lang="en-IN" sz="8000" b="1" dirty="0">
                <a:solidFill>
                  <a:schemeClr val="tx2">
                    <a:lumMod val="50000"/>
                  </a:schemeClr>
                </a:solidFill>
              </a:rPr>
              <a:t>FACULTY NAME:V.G L.NARSAMBA</a:t>
            </a:r>
          </a:p>
          <a:p>
            <a:endParaRPr lang="en-US" sz="8000" dirty="0">
              <a:solidFill>
                <a:srgbClr val="FF0000"/>
              </a:solidFill>
              <a:latin typeface="Times New Roman" panose="02020603050405020304" pitchFamily="18" charset="0"/>
              <a:cs typeface="Times New Roman" panose="02020603050405020304" pitchFamily="18" charset="0"/>
            </a:endParaRPr>
          </a:p>
          <a:p>
            <a:endParaRPr lang="en-IN" sz="8000" b="1" dirty="0">
              <a:solidFill>
                <a:srgbClr val="92D050"/>
              </a:solidFill>
            </a:endParaRPr>
          </a:p>
          <a:p>
            <a:endParaRPr lang="en-IN" dirty="0"/>
          </a:p>
        </p:txBody>
      </p:sp>
      <p:pic>
        <p:nvPicPr>
          <p:cNvPr id="5" name="object 2">
            <a:extLst>
              <a:ext uri="{FF2B5EF4-FFF2-40B4-BE49-F238E27FC236}">
                <a16:creationId xmlns:a16="http://schemas.microsoft.com/office/drawing/2014/main" id="{4DF63FED-DA3C-440F-D992-210817BFB226}"/>
              </a:ext>
            </a:extLst>
          </p:cNvPr>
          <p:cNvPicPr/>
          <p:nvPr/>
        </p:nvPicPr>
        <p:blipFill>
          <a:blip r:embed="rId2" cstate="print"/>
          <a:stretch>
            <a:fillRect/>
          </a:stretch>
        </p:blipFill>
        <p:spPr>
          <a:xfrm>
            <a:off x="2693968" y="15104"/>
            <a:ext cx="4909989" cy="880044"/>
          </a:xfrm>
          <a:prstGeom prst="rect">
            <a:avLst/>
          </a:prstGeom>
        </p:spPr>
      </p:pic>
    </p:spTree>
    <p:extLst>
      <p:ext uri="{BB962C8B-B14F-4D97-AF65-F5344CB8AC3E}">
        <p14:creationId xmlns:p14="http://schemas.microsoft.com/office/powerpoint/2010/main" val="1100654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2C097-4768-2513-8210-6C2D98208E0A}"/>
              </a:ext>
            </a:extLst>
          </p:cNvPr>
          <p:cNvSpPr>
            <a:spLocks noGrp="1"/>
          </p:cNvSpPr>
          <p:nvPr>
            <p:ph type="title"/>
          </p:nvPr>
        </p:nvSpPr>
        <p:spPr>
          <a:xfrm>
            <a:off x="838200" y="0"/>
            <a:ext cx="10515600" cy="750772"/>
          </a:xfrm>
        </p:spPr>
        <p:txBody>
          <a:bodyPr>
            <a:normAutofit/>
          </a:bodyPr>
          <a:lstStyle/>
          <a:p>
            <a:pPr algn="ctr"/>
            <a:r>
              <a:rPr lang="en-IN" dirty="0">
                <a:solidFill>
                  <a:schemeClr val="accent2">
                    <a:lumMod val="75000"/>
                  </a:schemeClr>
                </a:solidFill>
                <a:latin typeface="Times New Roman" panose="02020603050405020304" pitchFamily="18" charset="0"/>
                <a:cs typeface="Times New Roman" panose="02020603050405020304" pitchFamily="18" charset="0"/>
              </a:rPr>
              <a:t>Presentation outline</a:t>
            </a:r>
            <a:r>
              <a:rPr lang="en-IN"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D813CCF9-2F09-4193-C172-D96638770939}"/>
              </a:ext>
            </a:extLst>
          </p:cNvPr>
          <p:cNvSpPr>
            <a:spLocks noGrp="1"/>
          </p:cNvSpPr>
          <p:nvPr>
            <p:ph idx="1"/>
          </p:nvPr>
        </p:nvSpPr>
        <p:spPr>
          <a:xfrm>
            <a:off x="838200" y="750772"/>
            <a:ext cx="10515600" cy="5866595"/>
          </a:xfrm>
        </p:spPr>
        <p:txBody>
          <a:bodyPr>
            <a:normAutofit fontScale="85000" lnSpcReduction="20000"/>
          </a:bodyPr>
          <a:lstStyle/>
          <a:p>
            <a:pPr marL="514350" indent="-514350">
              <a:buAutoNum type="arabicPeriod"/>
            </a:pPr>
            <a:r>
              <a:rPr lang="en-IN" sz="2800" dirty="0">
                <a:latin typeface="Times New Roman" panose="02020603050405020304" pitchFamily="18" charset="0"/>
                <a:cs typeface="Times New Roman" panose="02020603050405020304" pitchFamily="18" charset="0"/>
              </a:rPr>
              <a:t>Finalize title, objectives &amp; problem statement</a:t>
            </a:r>
          </a:p>
          <a:p>
            <a:pPr marL="0" indent="0">
              <a:buNone/>
            </a:pPr>
            <a:r>
              <a:rPr lang="en-IN" dirty="0">
                <a:latin typeface="Times New Roman" panose="02020603050405020304" pitchFamily="18" charset="0"/>
                <a:cs typeface="Times New Roman" panose="02020603050405020304" pitchFamily="18" charset="0"/>
              </a:rPr>
              <a:t>2.</a:t>
            </a:r>
            <a:r>
              <a:rPr lang="en-IN" sz="2800" dirty="0">
                <a:latin typeface="Times New Roman" panose="02020603050405020304" pitchFamily="18" charset="0"/>
                <a:cs typeface="Times New Roman" panose="02020603050405020304" pitchFamily="18" charset="0"/>
              </a:rPr>
              <a:t> Abstract                                                                                                                                                   </a:t>
            </a:r>
          </a:p>
          <a:p>
            <a:pPr marL="0" indent="0">
              <a:buNone/>
            </a:pPr>
            <a:r>
              <a:rPr lang="en-IN" dirty="0">
                <a:latin typeface="Times New Roman" panose="02020603050405020304" pitchFamily="18" charset="0"/>
                <a:cs typeface="Times New Roman" panose="02020603050405020304" pitchFamily="18" charset="0"/>
              </a:rPr>
              <a:t>3.</a:t>
            </a:r>
            <a:r>
              <a:rPr lang="en-IN" sz="2800" dirty="0">
                <a:latin typeface="Times New Roman" panose="02020603050405020304" pitchFamily="18" charset="0"/>
                <a:cs typeface="Times New Roman" panose="02020603050405020304" pitchFamily="18" charset="0"/>
              </a:rPr>
              <a:t> Identify entities &amp; attributes</a:t>
            </a:r>
          </a:p>
          <a:p>
            <a:pPr marL="0" indent="0">
              <a:buNone/>
            </a:pPr>
            <a:r>
              <a:rPr lang="en-IN" dirty="0">
                <a:latin typeface="Times New Roman" panose="02020603050405020304" pitchFamily="18" charset="0"/>
                <a:cs typeface="Times New Roman" panose="02020603050405020304" pitchFamily="18" charset="0"/>
              </a:rPr>
              <a:t>4.</a:t>
            </a:r>
            <a:r>
              <a:rPr lang="en-IN" sz="2800" dirty="0">
                <a:latin typeface="Times New Roman" panose="02020603050405020304" pitchFamily="18" charset="0"/>
                <a:cs typeface="Times New Roman" panose="02020603050405020304" pitchFamily="18" charset="0"/>
              </a:rPr>
              <a:t> Design ER diagram &amp; relationships</a:t>
            </a:r>
          </a:p>
          <a:p>
            <a:pPr marL="0" indent="0">
              <a:buNone/>
            </a:pPr>
            <a:r>
              <a:rPr lang="en-IN" dirty="0">
                <a:latin typeface="Times New Roman" panose="02020603050405020304" pitchFamily="18" charset="0"/>
                <a:cs typeface="Times New Roman" panose="02020603050405020304" pitchFamily="18" charset="0"/>
              </a:rPr>
              <a:t>5.</a:t>
            </a:r>
            <a:r>
              <a:rPr lang="en-IN" sz="2800" dirty="0">
                <a:latin typeface="Times New Roman" panose="02020603050405020304" pitchFamily="18" charset="0"/>
                <a:cs typeface="Times New Roman" panose="02020603050405020304" pitchFamily="18" charset="0"/>
              </a:rPr>
              <a:t> Prepare relational database schema</a:t>
            </a:r>
          </a:p>
          <a:p>
            <a:pPr marL="0" indent="0">
              <a:buNone/>
            </a:pPr>
            <a:r>
              <a:rPr lang="en-IN" dirty="0">
                <a:latin typeface="Times New Roman" panose="02020603050405020304" pitchFamily="18" charset="0"/>
                <a:cs typeface="Times New Roman" panose="02020603050405020304" pitchFamily="18" charset="0"/>
              </a:rPr>
              <a:t>6.</a:t>
            </a:r>
            <a:r>
              <a:rPr lang="en-IN" sz="2800" dirty="0">
                <a:latin typeface="Times New Roman" panose="02020603050405020304" pitchFamily="18" charset="0"/>
                <a:cs typeface="Times New Roman" panose="02020603050405020304" pitchFamily="18" charset="0"/>
              </a:rPr>
              <a:t> Define Primary &amp; Foreign Keys</a:t>
            </a:r>
          </a:p>
          <a:p>
            <a:pPr marL="0" indent="0">
              <a:buNone/>
            </a:pPr>
            <a:r>
              <a:rPr lang="en-IN" dirty="0">
                <a:latin typeface="Times New Roman" panose="02020603050405020304" pitchFamily="18" charset="0"/>
                <a:cs typeface="Times New Roman" panose="02020603050405020304" pitchFamily="18" charset="0"/>
              </a:rPr>
              <a:t>7.</a:t>
            </a:r>
            <a:r>
              <a:rPr lang="en-IN" sz="2800" dirty="0">
                <a:latin typeface="Times New Roman" panose="02020603050405020304" pitchFamily="18" charset="0"/>
                <a:cs typeface="Times New Roman" panose="02020603050405020304" pitchFamily="18" charset="0"/>
              </a:rPr>
              <a:t> Create GitHub repo &amp; responsibilities</a:t>
            </a:r>
          </a:p>
          <a:p>
            <a:pPr marL="0" indent="0">
              <a:buNone/>
            </a:pPr>
            <a:r>
              <a:rPr lang="en-IN" dirty="0">
                <a:latin typeface="Times New Roman" panose="02020603050405020304" pitchFamily="18" charset="0"/>
                <a:cs typeface="Times New Roman" panose="02020603050405020304" pitchFamily="18" charset="0"/>
              </a:rPr>
              <a:t>8.</a:t>
            </a:r>
            <a:r>
              <a:rPr lang="en-IN" sz="2800" dirty="0">
                <a:latin typeface="Times New Roman" panose="02020603050405020304" pitchFamily="18" charset="0"/>
                <a:cs typeface="Times New Roman" panose="02020603050405020304" pitchFamily="18" charset="0"/>
              </a:rPr>
              <a:t> Database creation &amp; constraints</a:t>
            </a:r>
          </a:p>
          <a:p>
            <a:pPr marL="0" indent="0">
              <a:buNone/>
            </a:pPr>
            <a:r>
              <a:rPr lang="en-IN" dirty="0">
                <a:latin typeface="Times New Roman" panose="02020603050405020304" pitchFamily="18" charset="0"/>
                <a:cs typeface="Times New Roman" panose="02020603050405020304" pitchFamily="18" charset="0"/>
              </a:rPr>
              <a:t>9.</a:t>
            </a:r>
            <a:r>
              <a:rPr lang="en-IN" sz="2800" dirty="0">
                <a:latin typeface="Times New Roman" panose="02020603050405020304" pitchFamily="18" charset="0"/>
                <a:cs typeface="Times New Roman" panose="02020603050405020304" pitchFamily="18" charset="0"/>
              </a:rPr>
              <a:t> Insert sample data:</a:t>
            </a:r>
          </a:p>
          <a:p>
            <a:pPr marL="514350" indent="-514350">
              <a:buAutoNum type="arabicPeriod"/>
            </a:pPr>
            <a:r>
              <a:rPr lang="en-IN" sz="2800" dirty="0">
                <a:latin typeface="Times New Roman" panose="02020603050405020304" pitchFamily="18" charset="0"/>
                <a:cs typeface="Times New Roman" panose="02020603050405020304" pitchFamily="18" charset="0"/>
              </a:rPr>
              <a:t>DDL, DML &amp; DQL operations</a:t>
            </a:r>
          </a:p>
          <a:p>
            <a:pPr marL="514350" indent="-514350">
              <a:buFont typeface="Arial" panose="020B0604020202020204" pitchFamily="34" charset="0"/>
              <a:buAutoNum type="arabicPeriod"/>
            </a:pPr>
            <a:r>
              <a:rPr lang="en-IN" sz="2800" dirty="0">
                <a:latin typeface="Times New Roman" panose="02020603050405020304" pitchFamily="18" charset="0"/>
                <a:cs typeface="Times New Roman" panose="02020603050405020304" pitchFamily="18" charset="0"/>
              </a:rPr>
              <a:t>CRUD operations &amp; SQL queries</a:t>
            </a:r>
          </a:p>
          <a:p>
            <a:pPr marL="514350" indent="-514350">
              <a:buFont typeface="Arial" panose="020B0604020202020204" pitchFamily="34" charset="0"/>
              <a:buAutoNum type="arabicPeriod"/>
            </a:pPr>
            <a:r>
              <a:rPr lang="en-IN" sz="2800" dirty="0">
                <a:latin typeface="Times New Roman" panose="02020603050405020304" pitchFamily="18" charset="0"/>
                <a:cs typeface="Times New Roman" panose="02020603050405020304" pitchFamily="18" charset="0"/>
              </a:rPr>
              <a:t>Data integrity &amp; validation</a:t>
            </a:r>
          </a:p>
          <a:p>
            <a:pPr marL="514350" indent="-514350">
              <a:buFont typeface="Arial" panose="020B0604020202020204" pitchFamily="34" charset="0"/>
              <a:buAutoNum type="arabicPeriod"/>
            </a:pPr>
            <a:r>
              <a:rPr lang="en-IN" sz="2800" dirty="0">
                <a:latin typeface="Times New Roman" panose="02020603050405020304" pitchFamily="18" charset="0"/>
                <a:cs typeface="Times New Roman" panose="02020603050405020304" pitchFamily="18" charset="0"/>
              </a:rPr>
              <a:t>Project documentation</a:t>
            </a:r>
          </a:p>
          <a:p>
            <a:pPr marL="514350" indent="-514350">
              <a:buFont typeface="Arial" panose="020B0604020202020204" pitchFamily="34" charset="0"/>
              <a:buAutoNum type="arabicPeriod"/>
            </a:pPr>
            <a:r>
              <a:rPr lang="en-IN" sz="2800" dirty="0">
                <a:latin typeface="Times New Roman" panose="02020603050405020304" pitchFamily="18" charset="0"/>
                <a:cs typeface="Times New Roman" panose="02020603050405020304" pitchFamily="18" charset="0"/>
              </a:rPr>
              <a:t>Demonstrate &amp; present database</a:t>
            </a:r>
          </a:p>
          <a:p>
            <a:pPr marL="514350" indent="-514350">
              <a:buFont typeface="Arial" panose="020B0604020202020204" pitchFamily="34" charset="0"/>
              <a:buAutoNum type="arabicPeriod"/>
            </a:pPr>
            <a:r>
              <a:rPr lang="en-IN" sz="2800" dirty="0">
                <a:latin typeface="Times New Roman" panose="02020603050405020304" pitchFamily="18" charset="0"/>
                <a:cs typeface="Times New Roman" panose="02020603050405020304" pitchFamily="18" charset="0"/>
              </a:rPr>
              <a:t>Conclusion</a:t>
            </a:r>
          </a:p>
          <a:p>
            <a:pPr marL="514350" indent="-514350">
              <a:buAutoNum type="arabicPeriod"/>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519022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C73C6-1B8A-ACFB-678B-22DE1077132B}"/>
              </a:ext>
            </a:extLst>
          </p:cNvPr>
          <p:cNvSpPr>
            <a:spLocks noGrp="1"/>
          </p:cNvSpPr>
          <p:nvPr>
            <p:ph type="title"/>
          </p:nvPr>
        </p:nvSpPr>
        <p:spPr>
          <a:xfrm>
            <a:off x="838201" y="67377"/>
            <a:ext cx="9037320" cy="548641"/>
          </a:xfrm>
        </p:spPr>
        <p:txBody>
          <a:bodyPr>
            <a:normAutofit fontScale="90000"/>
          </a:bodyPr>
          <a:lstStyle/>
          <a:p>
            <a:pPr algn="ctr"/>
            <a:r>
              <a:rPr lang="en-IN" dirty="0">
                <a:solidFill>
                  <a:srgbClr val="7030A0"/>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BBDE2745-69F3-D6C3-0CFE-CE544579DE44}"/>
              </a:ext>
            </a:extLst>
          </p:cNvPr>
          <p:cNvSpPr txBox="1"/>
          <p:nvPr/>
        </p:nvSpPr>
        <p:spPr>
          <a:xfrm>
            <a:off x="838201" y="616018"/>
            <a:ext cx="9884342" cy="3693319"/>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Statement:</a:t>
            </a:r>
          </a:p>
          <a:p>
            <a:pPr algn="ctr"/>
            <a:endParaRPr lang="en-US" sz="28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Managing books, members, issue and return records, fines, and librarians manually can be difficult and may lead to errors, duplicate data, and problems in tracking books. Therefore, a database-based </a:t>
            </a:r>
            <a:r>
              <a:rPr lang="en-IN" sz="2400" b="1" dirty="0">
                <a:latin typeface="Times New Roman" panose="02020603050405020304" pitchFamily="18" charset="0"/>
                <a:cs typeface="Times New Roman" panose="02020603050405020304" pitchFamily="18" charset="0"/>
              </a:rPr>
              <a:t>Library Management System</a:t>
            </a:r>
            <a:r>
              <a:rPr lang="en-IN" sz="2400" dirty="0">
                <a:latin typeface="Times New Roman" panose="02020603050405020304" pitchFamily="18" charset="0"/>
                <a:cs typeface="Times New Roman" panose="02020603050405020304" pitchFamily="18" charset="0"/>
              </a:rPr>
              <a:t> is needed to store and manage all library-related information efficiently and accurately.</a:t>
            </a:r>
          </a:p>
          <a:p>
            <a:endParaRPr lang="en-US" dirty="0"/>
          </a:p>
          <a:p>
            <a:endParaRPr lang="en-US" dirty="0"/>
          </a:p>
        </p:txBody>
      </p:sp>
    </p:spTree>
    <p:extLst>
      <p:ext uri="{BB962C8B-B14F-4D97-AF65-F5344CB8AC3E}">
        <p14:creationId xmlns:p14="http://schemas.microsoft.com/office/powerpoint/2010/main" val="3848029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84DB6-1890-DEA5-DCD4-F5BDE0819626}"/>
              </a:ext>
            </a:extLst>
          </p:cNvPr>
          <p:cNvSpPr>
            <a:spLocks noGrp="1"/>
          </p:cNvSpPr>
          <p:nvPr>
            <p:ph type="title"/>
          </p:nvPr>
        </p:nvSpPr>
        <p:spPr>
          <a:xfrm>
            <a:off x="838200" y="125128"/>
            <a:ext cx="10515600" cy="895150"/>
          </a:xfrm>
        </p:spPr>
        <p:txBody>
          <a:bodyPr/>
          <a:lstStyle/>
          <a:p>
            <a:pPr algn="ctr"/>
            <a:r>
              <a:rPr lang="en-IN" dirty="0">
                <a:latin typeface="Times New Roman" panose="02020603050405020304" pitchFamily="18" charset="0"/>
                <a:cs typeface="Times New Roman" panose="02020603050405020304" pitchFamily="18" charset="0"/>
              </a:rPr>
              <a:t>Problem Statement:</a:t>
            </a:r>
          </a:p>
        </p:txBody>
      </p:sp>
      <p:sp>
        <p:nvSpPr>
          <p:cNvPr id="6" name="Rectangle 2">
            <a:extLst>
              <a:ext uri="{FF2B5EF4-FFF2-40B4-BE49-F238E27FC236}">
                <a16:creationId xmlns:a16="http://schemas.microsoft.com/office/drawing/2014/main" id="{A7C840FA-4AB9-9432-F07B-9ADE9ABEB539}"/>
              </a:ext>
            </a:extLst>
          </p:cNvPr>
          <p:cNvSpPr>
            <a:spLocks noGrp="1" noChangeArrowheads="1"/>
          </p:cNvSpPr>
          <p:nvPr>
            <p:ph idx="1"/>
          </p:nvPr>
        </p:nvSpPr>
        <p:spPr bwMode="auto">
          <a:xfrm>
            <a:off x="1147665" y="1722095"/>
            <a:ext cx="10383400" cy="439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r>
              <a:rPr lang="en-IN" dirty="0">
                <a:latin typeface="Times New Roman" panose="02020603050405020304" pitchFamily="18" charset="0"/>
                <a:cs typeface="Times New Roman" panose="02020603050405020304" pitchFamily="18" charset="0"/>
              </a:rPr>
              <a:t>Managing library records manually is time-consuming.</a:t>
            </a:r>
          </a:p>
          <a:p>
            <a:pPr marL="457200" lvl="0" indent="-457200"/>
            <a:r>
              <a:rPr lang="en-IN" dirty="0">
                <a:latin typeface="Times New Roman" panose="02020603050405020304" pitchFamily="18" charset="0"/>
                <a:cs typeface="Times New Roman" panose="02020603050405020304" pitchFamily="18" charset="0"/>
              </a:rPr>
              <a:t>Maintaining large numbers of book records is difficult. </a:t>
            </a:r>
          </a:p>
          <a:p>
            <a:pPr marL="457200" lvl="0" indent="-457200"/>
            <a:r>
              <a:rPr lang="en-IN" dirty="0">
                <a:latin typeface="Times New Roman" panose="02020603050405020304" pitchFamily="18" charset="0"/>
                <a:cs typeface="Times New Roman" panose="02020603050405020304" pitchFamily="18" charset="0"/>
              </a:rPr>
              <a:t>Finding the availability of a particular book takes time. </a:t>
            </a:r>
          </a:p>
          <a:p>
            <a:pPr marL="457200" lvl="0" indent="-457200"/>
            <a:r>
              <a:rPr lang="en-IN" dirty="0">
                <a:latin typeface="Times New Roman" panose="02020603050405020304" pitchFamily="18" charset="0"/>
                <a:cs typeface="Times New Roman" panose="02020603050405020304" pitchFamily="18" charset="0"/>
              </a:rPr>
              <a:t>Manual issue and return records may contain errors. </a:t>
            </a:r>
          </a:p>
          <a:p>
            <a:pPr marL="457200" lvl="0" indent="-457200"/>
            <a:r>
              <a:rPr lang="en-IN" dirty="0">
                <a:latin typeface="Times New Roman" panose="02020603050405020304" pitchFamily="18" charset="0"/>
                <a:cs typeface="Times New Roman" panose="02020603050405020304" pitchFamily="18" charset="0"/>
              </a:rPr>
              <a:t>Calculating late-return fines manually can be difficult. </a:t>
            </a:r>
          </a:p>
          <a:p>
            <a:pPr marL="457200" lvl="0" indent="-457200"/>
            <a:r>
              <a:rPr lang="en-IN" dirty="0">
                <a:latin typeface="Times New Roman" panose="02020603050405020304" pitchFamily="18" charset="0"/>
                <a:cs typeface="Times New Roman" panose="02020603050405020304" pitchFamily="18" charset="0"/>
              </a:rPr>
              <a:t>There is a need for a computerized system to manage library operations efficiently.</a:t>
            </a:r>
          </a:p>
          <a:p>
            <a:pPr marL="342900" lvl="0" indent="-342900"/>
            <a:endParaRPr lang="en-IN"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911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16E98-BBF3-6781-042B-B85D918F4B5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2F45A0C7-E64B-758C-CF77-A5063679E747}"/>
              </a:ext>
            </a:extLst>
          </p:cNvPr>
          <p:cNvSpPr>
            <a:spLocks noGrp="1"/>
          </p:cNvSpPr>
          <p:nvPr>
            <p:ph idx="1"/>
          </p:nvPr>
        </p:nvSpPr>
        <p:spPr/>
        <p:txBody>
          <a:bodyPr/>
          <a:lstStyle/>
          <a:p>
            <a:pPr marL="457200" lvl="0" indent="-457200"/>
            <a:r>
              <a:rPr lang="en-IN" dirty="0"/>
              <a:t>To automate library management activities. </a:t>
            </a:r>
          </a:p>
          <a:p>
            <a:pPr marL="457200" lvl="0" indent="-457200"/>
            <a:r>
              <a:rPr lang="en-IN" dirty="0"/>
              <a:t>To maintain accurate book records. </a:t>
            </a:r>
          </a:p>
          <a:p>
            <a:pPr marL="457200" lvl="0" indent="-457200"/>
            <a:r>
              <a:rPr lang="en-IN" dirty="0"/>
              <a:t>To manage student/member information. </a:t>
            </a:r>
          </a:p>
          <a:p>
            <a:pPr marL="457200" lvl="0" indent="-457200"/>
            <a:r>
              <a:rPr lang="en-IN" dirty="0"/>
              <a:t>To track book issue and return transactions. </a:t>
            </a:r>
          </a:p>
          <a:p>
            <a:pPr marL="457200" lvl="0" indent="-457200"/>
            <a:r>
              <a:rPr lang="en-IN" dirty="0"/>
              <a:t>To check book availability quickly. </a:t>
            </a:r>
          </a:p>
          <a:p>
            <a:pPr marL="457200" lvl="0" indent="-457200"/>
            <a:r>
              <a:rPr lang="en-IN" dirty="0"/>
              <a:t>To calculate fines for late returns. </a:t>
            </a:r>
          </a:p>
          <a:p>
            <a:pPr marL="457200" lvl="0" indent="-457200"/>
            <a:r>
              <a:rPr lang="en-IN" dirty="0"/>
              <a:t>To reduce paperwork and human errors. </a:t>
            </a:r>
          </a:p>
          <a:p>
            <a:pPr marL="457200" lvl="0" indent="-457200"/>
            <a:r>
              <a:rPr lang="en-IN" dirty="0"/>
              <a:t>To provide easy access to library information.</a:t>
            </a:r>
          </a:p>
          <a:p>
            <a:pPr marL="342900" lvl="0" indent="-342900"/>
            <a:endParaRPr lang="en-IN" dirty="0"/>
          </a:p>
          <a:p>
            <a:endParaRPr lang="en-IN" dirty="0"/>
          </a:p>
        </p:txBody>
      </p:sp>
    </p:spTree>
    <p:extLst>
      <p:ext uri="{BB962C8B-B14F-4D97-AF65-F5344CB8AC3E}">
        <p14:creationId xmlns:p14="http://schemas.microsoft.com/office/powerpoint/2010/main" val="3748059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6C9C7A-2D88-668C-067E-4E3613DE43A9}"/>
              </a:ext>
            </a:extLst>
          </p:cNvPr>
          <p:cNvSpPr txBox="1"/>
          <p:nvPr/>
        </p:nvSpPr>
        <p:spPr>
          <a:xfrm>
            <a:off x="4521944" y="327804"/>
            <a:ext cx="3148112" cy="523220"/>
          </a:xfrm>
          <a:prstGeom prst="rect">
            <a:avLst/>
          </a:prstGeom>
          <a:noFill/>
        </p:spPr>
        <p:txBody>
          <a:bodyPr wrap="square" rtlCol="0">
            <a:spAutoFit/>
          </a:bodyPr>
          <a:lstStyle/>
          <a:p>
            <a:r>
              <a:rPr lang="en-IN" sz="2800" dirty="0">
                <a:latin typeface="Arial Black" panose="020B0A04020102020204" pitchFamily="34" charset="0"/>
              </a:rPr>
              <a:t>ABSTRACTION</a:t>
            </a:r>
          </a:p>
        </p:txBody>
      </p:sp>
      <p:sp>
        <p:nvSpPr>
          <p:cNvPr id="3" name="TextBox 2">
            <a:extLst>
              <a:ext uri="{FF2B5EF4-FFF2-40B4-BE49-F238E27FC236}">
                <a16:creationId xmlns:a16="http://schemas.microsoft.com/office/drawing/2014/main" id="{7F3C25CC-52B2-1E86-E963-944A28C1CC6F}"/>
              </a:ext>
            </a:extLst>
          </p:cNvPr>
          <p:cNvSpPr txBox="1"/>
          <p:nvPr/>
        </p:nvSpPr>
        <p:spPr>
          <a:xfrm>
            <a:off x="172961" y="1435838"/>
            <a:ext cx="11846078" cy="1323439"/>
          </a:xfrm>
          <a:prstGeom prst="rect">
            <a:avLst/>
          </a:prstGeom>
          <a:noFill/>
        </p:spPr>
        <p:txBody>
          <a:bodyPr wrap="square" rtlCol="0">
            <a:spAutoFit/>
          </a:bodyPr>
          <a:lstStyle/>
          <a:p>
            <a:r>
              <a:rPr lang="en-IN" sz="2000"/>
              <a:t>The Library Management System is a database-based system designed to manage books, members, authors, librarians, transactions, and fines efficiently. It reduces manual work, avoids data duplication, and helps maintain accurate library records. The system uses SQL, primary and foreign keys, and constraints to ensure data integrity and easy access to library information.</a:t>
            </a:r>
          </a:p>
        </p:txBody>
      </p:sp>
    </p:spTree>
    <p:extLst>
      <p:ext uri="{BB962C8B-B14F-4D97-AF65-F5344CB8AC3E}">
        <p14:creationId xmlns:p14="http://schemas.microsoft.com/office/powerpoint/2010/main" val="897738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5202A-5E85-7D37-BE62-4B8E77AB85FA}"/>
              </a:ext>
            </a:extLst>
          </p:cNvPr>
          <p:cNvSpPr>
            <a:spLocks noGrp="1"/>
          </p:cNvSpPr>
          <p:nvPr>
            <p:ph type="title"/>
          </p:nvPr>
        </p:nvSpPr>
        <p:spPr>
          <a:xfrm>
            <a:off x="838200" y="115504"/>
            <a:ext cx="10515600" cy="861460"/>
          </a:xfrm>
        </p:spPr>
        <p:txBody>
          <a:bodyPr/>
          <a:lstStyle/>
          <a:p>
            <a:pPr algn="ctr"/>
            <a:r>
              <a:rPr lang="en-IN" dirty="0"/>
              <a:t>ENTITIES&amp;ATTRIBUTES:</a:t>
            </a:r>
          </a:p>
        </p:txBody>
      </p:sp>
      <p:graphicFrame>
        <p:nvGraphicFramePr>
          <p:cNvPr id="6" name="Content Placeholder 5">
            <a:extLst>
              <a:ext uri="{FF2B5EF4-FFF2-40B4-BE49-F238E27FC236}">
                <a16:creationId xmlns:a16="http://schemas.microsoft.com/office/drawing/2014/main" id="{5D483C6D-8E53-6B26-D8D0-5F7E73B549E5}"/>
              </a:ext>
            </a:extLst>
          </p:cNvPr>
          <p:cNvGraphicFramePr>
            <a:graphicFrameLocks noGrp="1"/>
          </p:cNvGraphicFramePr>
          <p:nvPr>
            <p:ph idx="1"/>
            <p:extLst>
              <p:ext uri="{D42A27DB-BD31-4B8C-83A1-F6EECF244321}">
                <p14:modId xmlns:p14="http://schemas.microsoft.com/office/powerpoint/2010/main" val="2535255267"/>
              </p:ext>
            </p:extLst>
          </p:nvPr>
        </p:nvGraphicFramePr>
        <p:xfrm>
          <a:off x="1268964" y="1296955"/>
          <a:ext cx="9834465" cy="5029200"/>
        </p:xfrm>
        <a:graphic>
          <a:graphicData uri="http://schemas.openxmlformats.org/drawingml/2006/table">
            <a:tbl>
              <a:tblPr>
                <a:tableStyleId>{5C22544A-7EE6-4342-B048-85BDC9FD1C3A}</a:tableStyleId>
              </a:tblPr>
              <a:tblGrid>
                <a:gridCol w="3278155">
                  <a:extLst>
                    <a:ext uri="{9D8B030D-6E8A-4147-A177-3AD203B41FA5}">
                      <a16:colId xmlns:a16="http://schemas.microsoft.com/office/drawing/2014/main" val="2663750291"/>
                    </a:ext>
                  </a:extLst>
                </a:gridCol>
                <a:gridCol w="3278155">
                  <a:extLst>
                    <a:ext uri="{9D8B030D-6E8A-4147-A177-3AD203B41FA5}">
                      <a16:colId xmlns:a16="http://schemas.microsoft.com/office/drawing/2014/main" val="1777333889"/>
                    </a:ext>
                  </a:extLst>
                </a:gridCol>
                <a:gridCol w="3278155">
                  <a:extLst>
                    <a:ext uri="{9D8B030D-6E8A-4147-A177-3AD203B41FA5}">
                      <a16:colId xmlns:a16="http://schemas.microsoft.com/office/drawing/2014/main" val="117461689"/>
                    </a:ext>
                  </a:extLst>
                </a:gridCol>
              </a:tblGrid>
              <a:tr h="335280">
                <a:tc>
                  <a:txBody>
                    <a:bodyPr/>
                    <a:lstStyle/>
                    <a:p>
                      <a:pPr>
                        <a:buNone/>
                      </a:pPr>
                      <a:r>
                        <a:rPr lang="en-IN" sz="1400"/>
                        <a:t>No.</a:t>
                      </a:r>
                    </a:p>
                  </a:txBody>
                  <a:tcPr marL="72522" marR="72522" marT="36261" marB="36261" anchor="ctr"/>
                </a:tc>
                <a:tc>
                  <a:txBody>
                    <a:bodyPr/>
                    <a:lstStyle/>
                    <a:p>
                      <a:pPr>
                        <a:buNone/>
                      </a:pPr>
                      <a:r>
                        <a:rPr lang="en-IN" sz="1400"/>
                        <a:t>Entity</a:t>
                      </a:r>
                    </a:p>
                  </a:txBody>
                  <a:tcPr marL="72522" marR="72522" marT="36261" marB="36261" anchor="ctr"/>
                </a:tc>
                <a:tc>
                  <a:txBody>
                    <a:bodyPr/>
                    <a:lstStyle/>
                    <a:p>
                      <a:pPr>
                        <a:buNone/>
                      </a:pPr>
                      <a:r>
                        <a:rPr lang="en-IN" sz="1400"/>
                        <a:t>Attributes</a:t>
                      </a:r>
                    </a:p>
                  </a:txBody>
                  <a:tcPr marL="72522" marR="72522" marT="36261" marB="36261" anchor="ctr"/>
                </a:tc>
                <a:extLst>
                  <a:ext uri="{0D108BD9-81ED-4DB2-BD59-A6C34878D82A}">
                    <a16:rowId xmlns:a16="http://schemas.microsoft.com/office/drawing/2014/main" val="3266161573"/>
                  </a:ext>
                </a:extLst>
              </a:tr>
              <a:tr h="586740">
                <a:tc>
                  <a:txBody>
                    <a:bodyPr/>
                    <a:lstStyle/>
                    <a:p>
                      <a:pPr>
                        <a:buNone/>
                      </a:pPr>
                      <a:r>
                        <a:rPr lang="en-IN" sz="1400"/>
                        <a:t>1</a:t>
                      </a:r>
                    </a:p>
                  </a:txBody>
                  <a:tcPr marL="72522" marR="72522" marT="36261" marB="36261" anchor="ctr"/>
                </a:tc>
                <a:tc>
                  <a:txBody>
                    <a:bodyPr/>
                    <a:lstStyle/>
                    <a:p>
                      <a:pPr>
                        <a:buNone/>
                      </a:pPr>
                      <a:r>
                        <a:rPr lang="en-IN" sz="1400"/>
                        <a:t>Book</a:t>
                      </a:r>
                    </a:p>
                  </a:txBody>
                  <a:tcPr marL="72522" marR="72522" marT="36261" marB="36261" anchor="ctr"/>
                </a:tc>
                <a:tc>
                  <a:txBody>
                    <a:bodyPr/>
                    <a:lstStyle/>
                    <a:p>
                      <a:pPr>
                        <a:buNone/>
                      </a:pPr>
                      <a:r>
                        <a:rPr lang="en-IN" sz="1400"/>
                        <a:t>Book_ID, Title, ISBN, Price, Category_ID</a:t>
                      </a:r>
                    </a:p>
                  </a:txBody>
                  <a:tcPr marL="72522" marR="72522" marT="36261" marB="36261" anchor="ctr"/>
                </a:tc>
                <a:extLst>
                  <a:ext uri="{0D108BD9-81ED-4DB2-BD59-A6C34878D82A}">
                    <a16:rowId xmlns:a16="http://schemas.microsoft.com/office/drawing/2014/main" val="910912064"/>
                  </a:ext>
                </a:extLst>
              </a:tr>
              <a:tr h="586740">
                <a:tc>
                  <a:txBody>
                    <a:bodyPr/>
                    <a:lstStyle/>
                    <a:p>
                      <a:pPr>
                        <a:buNone/>
                      </a:pPr>
                      <a:r>
                        <a:rPr lang="en-IN" sz="1400"/>
                        <a:t>2</a:t>
                      </a:r>
                    </a:p>
                  </a:txBody>
                  <a:tcPr marL="72522" marR="72522" marT="36261" marB="36261" anchor="ctr"/>
                </a:tc>
                <a:tc>
                  <a:txBody>
                    <a:bodyPr/>
                    <a:lstStyle/>
                    <a:p>
                      <a:pPr>
                        <a:buNone/>
                      </a:pPr>
                      <a:r>
                        <a:rPr lang="en-IN" sz="1400"/>
                        <a:t>Author</a:t>
                      </a:r>
                    </a:p>
                  </a:txBody>
                  <a:tcPr marL="72522" marR="72522" marT="36261" marB="36261" anchor="ctr"/>
                </a:tc>
                <a:tc>
                  <a:txBody>
                    <a:bodyPr/>
                    <a:lstStyle/>
                    <a:p>
                      <a:pPr>
                        <a:buNone/>
                      </a:pPr>
                      <a:r>
                        <a:rPr lang="en-IN" sz="1400"/>
                        <a:t>Author_ID, Author_Name, Email, Phone, Address</a:t>
                      </a:r>
                    </a:p>
                  </a:txBody>
                  <a:tcPr marL="72522" marR="72522" marT="36261" marB="36261" anchor="ctr"/>
                </a:tc>
                <a:extLst>
                  <a:ext uri="{0D108BD9-81ED-4DB2-BD59-A6C34878D82A}">
                    <a16:rowId xmlns:a16="http://schemas.microsoft.com/office/drawing/2014/main" val="3059051373"/>
                  </a:ext>
                </a:extLst>
              </a:tr>
              <a:tr h="586740">
                <a:tc>
                  <a:txBody>
                    <a:bodyPr/>
                    <a:lstStyle/>
                    <a:p>
                      <a:pPr>
                        <a:buNone/>
                      </a:pPr>
                      <a:r>
                        <a:rPr lang="en-IN" sz="1400"/>
                        <a:t>3</a:t>
                      </a:r>
                    </a:p>
                  </a:txBody>
                  <a:tcPr marL="72522" marR="72522" marT="36261" marB="36261" anchor="ctr"/>
                </a:tc>
                <a:tc>
                  <a:txBody>
                    <a:bodyPr/>
                    <a:lstStyle/>
                    <a:p>
                      <a:pPr>
                        <a:buNone/>
                      </a:pPr>
                      <a:r>
                        <a:rPr lang="en-IN" sz="1400"/>
                        <a:t>Category</a:t>
                      </a:r>
                    </a:p>
                  </a:txBody>
                  <a:tcPr marL="72522" marR="72522" marT="36261" marB="36261" anchor="ctr"/>
                </a:tc>
                <a:tc>
                  <a:txBody>
                    <a:bodyPr/>
                    <a:lstStyle/>
                    <a:p>
                      <a:pPr>
                        <a:buNone/>
                      </a:pPr>
                      <a:r>
                        <a:rPr lang="en-IN" sz="1400"/>
                        <a:t>Category_ID, Category_Name, Description</a:t>
                      </a:r>
                    </a:p>
                  </a:txBody>
                  <a:tcPr marL="72522" marR="72522" marT="36261" marB="36261" anchor="ctr"/>
                </a:tc>
                <a:extLst>
                  <a:ext uri="{0D108BD9-81ED-4DB2-BD59-A6C34878D82A}">
                    <a16:rowId xmlns:a16="http://schemas.microsoft.com/office/drawing/2014/main" val="346587694"/>
                  </a:ext>
                </a:extLst>
              </a:tr>
              <a:tr h="586740">
                <a:tc>
                  <a:txBody>
                    <a:bodyPr/>
                    <a:lstStyle/>
                    <a:p>
                      <a:pPr>
                        <a:buNone/>
                      </a:pPr>
                      <a:r>
                        <a:rPr lang="en-IN" sz="1400"/>
                        <a:t>4</a:t>
                      </a:r>
                    </a:p>
                  </a:txBody>
                  <a:tcPr marL="72522" marR="72522" marT="36261" marB="36261" anchor="ctr"/>
                </a:tc>
                <a:tc>
                  <a:txBody>
                    <a:bodyPr/>
                    <a:lstStyle/>
                    <a:p>
                      <a:pPr>
                        <a:buNone/>
                      </a:pPr>
                      <a:r>
                        <a:rPr lang="en-IN" sz="1400"/>
                        <a:t>Member</a:t>
                      </a:r>
                    </a:p>
                  </a:txBody>
                  <a:tcPr marL="72522" marR="72522" marT="36261" marB="36261" anchor="ctr"/>
                </a:tc>
                <a:tc>
                  <a:txBody>
                    <a:bodyPr/>
                    <a:lstStyle/>
                    <a:p>
                      <a:pPr>
                        <a:buNone/>
                      </a:pPr>
                      <a:r>
                        <a:rPr lang="en-IN" sz="1400"/>
                        <a:t>Member_ID, Name, Email, Phone, Address</a:t>
                      </a:r>
                    </a:p>
                  </a:txBody>
                  <a:tcPr marL="72522" marR="72522" marT="36261" marB="36261" anchor="ctr"/>
                </a:tc>
                <a:extLst>
                  <a:ext uri="{0D108BD9-81ED-4DB2-BD59-A6C34878D82A}">
                    <a16:rowId xmlns:a16="http://schemas.microsoft.com/office/drawing/2014/main" val="687322098"/>
                  </a:ext>
                </a:extLst>
              </a:tr>
              <a:tr h="586740">
                <a:tc>
                  <a:txBody>
                    <a:bodyPr/>
                    <a:lstStyle/>
                    <a:p>
                      <a:pPr>
                        <a:buNone/>
                      </a:pPr>
                      <a:r>
                        <a:rPr lang="en-IN" sz="1400"/>
                        <a:t>5</a:t>
                      </a:r>
                    </a:p>
                  </a:txBody>
                  <a:tcPr marL="72522" marR="72522" marT="36261" marB="36261" anchor="ctr"/>
                </a:tc>
                <a:tc>
                  <a:txBody>
                    <a:bodyPr/>
                    <a:lstStyle/>
                    <a:p>
                      <a:pPr>
                        <a:buNone/>
                      </a:pPr>
                      <a:r>
                        <a:rPr lang="en-IN" sz="1400"/>
                        <a:t>Librarian</a:t>
                      </a:r>
                    </a:p>
                  </a:txBody>
                  <a:tcPr marL="72522" marR="72522" marT="36261" marB="36261" anchor="ctr"/>
                </a:tc>
                <a:tc>
                  <a:txBody>
                    <a:bodyPr/>
                    <a:lstStyle/>
                    <a:p>
                      <a:pPr>
                        <a:buNone/>
                      </a:pPr>
                      <a:r>
                        <a:rPr lang="en-IN" sz="1400"/>
                        <a:t>Librarian_ID, Name, Email, Phone, Salary</a:t>
                      </a:r>
                    </a:p>
                  </a:txBody>
                  <a:tcPr marL="72522" marR="72522" marT="36261" marB="36261" anchor="ctr"/>
                </a:tc>
                <a:extLst>
                  <a:ext uri="{0D108BD9-81ED-4DB2-BD59-A6C34878D82A}">
                    <a16:rowId xmlns:a16="http://schemas.microsoft.com/office/drawing/2014/main" val="3087358780"/>
                  </a:ext>
                </a:extLst>
              </a:tr>
              <a:tr h="586740">
                <a:tc>
                  <a:txBody>
                    <a:bodyPr/>
                    <a:lstStyle/>
                    <a:p>
                      <a:pPr>
                        <a:buNone/>
                      </a:pPr>
                      <a:r>
                        <a:rPr lang="en-IN" sz="1400"/>
                        <a:t>6</a:t>
                      </a:r>
                    </a:p>
                  </a:txBody>
                  <a:tcPr marL="72522" marR="72522" marT="36261" marB="36261" anchor="ctr"/>
                </a:tc>
                <a:tc>
                  <a:txBody>
                    <a:bodyPr/>
                    <a:lstStyle/>
                    <a:p>
                      <a:pPr>
                        <a:buNone/>
                      </a:pPr>
                      <a:r>
                        <a:rPr lang="en-IN" sz="1400"/>
                        <a:t>Publisher</a:t>
                      </a:r>
                    </a:p>
                  </a:txBody>
                  <a:tcPr marL="72522" marR="72522" marT="36261" marB="36261" anchor="ctr"/>
                </a:tc>
                <a:tc>
                  <a:txBody>
                    <a:bodyPr/>
                    <a:lstStyle/>
                    <a:p>
                      <a:pPr>
                        <a:buNone/>
                      </a:pPr>
                      <a:r>
                        <a:rPr lang="en-IN" sz="1400"/>
                        <a:t>Publisher_ID, Publisher_Name, Email, Phone, Address</a:t>
                      </a:r>
                    </a:p>
                  </a:txBody>
                  <a:tcPr marL="72522" marR="72522" marT="36261" marB="36261" anchor="ctr"/>
                </a:tc>
                <a:extLst>
                  <a:ext uri="{0D108BD9-81ED-4DB2-BD59-A6C34878D82A}">
                    <a16:rowId xmlns:a16="http://schemas.microsoft.com/office/drawing/2014/main" val="4179402823"/>
                  </a:ext>
                </a:extLst>
              </a:tr>
              <a:tr h="586740">
                <a:tc>
                  <a:txBody>
                    <a:bodyPr/>
                    <a:lstStyle/>
                    <a:p>
                      <a:pPr>
                        <a:buNone/>
                      </a:pPr>
                      <a:r>
                        <a:rPr lang="en-IN" sz="1400"/>
                        <a:t>7</a:t>
                      </a:r>
                    </a:p>
                  </a:txBody>
                  <a:tcPr marL="72522" marR="72522" marT="36261" marB="36261" anchor="ctr"/>
                </a:tc>
                <a:tc>
                  <a:txBody>
                    <a:bodyPr/>
                    <a:lstStyle/>
                    <a:p>
                      <a:pPr>
                        <a:buNone/>
                      </a:pPr>
                      <a:r>
                        <a:rPr lang="en-IN" sz="1400"/>
                        <a:t>Transaction</a:t>
                      </a:r>
                    </a:p>
                  </a:txBody>
                  <a:tcPr marL="72522" marR="72522" marT="36261" marB="36261" anchor="ctr"/>
                </a:tc>
                <a:tc>
                  <a:txBody>
                    <a:bodyPr/>
                    <a:lstStyle/>
                    <a:p>
                      <a:pPr>
                        <a:buNone/>
                      </a:pPr>
                      <a:r>
                        <a:rPr lang="en-IN" sz="1400"/>
                        <a:t>Transaction_ID, Member_ID, Book_ID, Issue_Date, Return_Date</a:t>
                      </a:r>
                    </a:p>
                  </a:txBody>
                  <a:tcPr marL="72522" marR="72522" marT="36261" marB="36261" anchor="ctr"/>
                </a:tc>
                <a:extLst>
                  <a:ext uri="{0D108BD9-81ED-4DB2-BD59-A6C34878D82A}">
                    <a16:rowId xmlns:a16="http://schemas.microsoft.com/office/drawing/2014/main" val="3601870752"/>
                  </a:ext>
                </a:extLst>
              </a:tr>
              <a:tr h="586740">
                <a:tc>
                  <a:txBody>
                    <a:bodyPr/>
                    <a:lstStyle/>
                    <a:p>
                      <a:pPr>
                        <a:buNone/>
                      </a:pPr>
                      <a:r>
                        <a:rPr lang="en-IN" sz="1400"/>
                        <a:t>8</a:t>
                      </a:r>
                    </a:p>
                  </a:txBody>
                  <a:tcPr marL="72522" marR="72522" marT="36261" marB="36261" anchor="ctr"/>
                </a:tc>
                <a:tc>
                  <a:txBody>
                    <a:bodyPr/>
                    <a:lstStyle/>
                    <a:p>
                      <a:pPr>
                        <a:buNone/>
                      </a:pPr>
                      <a:r>
                        <a:rPr lang="en-IN" sz="1400"/>
                        <a:t>Fine</a:t>
                      </a:r>
                    </a:p>
                  </a:txBody>
                  <a:tcPr marL="72522" marR="72522" marT="36261" marB="36261" anchor="ctr"/>
                </a:tc>
                <a:tc>
                  <a:txBody>
                    <a:bodyPr/>
                    <a:lstStyle/>
                    <a:p>
                      <a:pPr>
                        <a:buNone/>
                      </a:pPr>
                      <a:r>
                        <a:rPr lang="en-IN" sz="1400" dirty="0" err="1"/>
                        <a:t>Fine_ID</a:t>
                      </a:r>
                      <a:r>
                        <a:rPr lang="en-IN" sz="1400" dirty="0"/>
                        <a:t>, </a:t>
                      </a:r>
                      <a:r>
                        <a:rPr lang="en-IN" sz="1400" dirty="0" err="1"/>
                        <a:t>Transaction_ID</a:t>
                      </a:r>
                      <a:r>
                        <a:rPr lang="en-IN" sz="1400" dirty="0"/>
                        <a:t>, Amount, </a:t>
                      </a:r>
                      <a:r>
                        <a:rPr lang="en-IN" sz="1400" dirty="0" err="1"/>
                        <a:t>Fine_Date</a:t>
                      </a:r>
                      <a:r>
                        <a:rPr lang="en-IN" sz="1400" dirty="0"/>
                        <a:t>, </a:t>
                      </a:r>
                      <a:r>
                        <a:rPr lang="en-IN" sz="1400" dirty="0" err="1"/>
                        <a:t>Payment_Status</a:t>
                      </a:r>
                      <a:endParaRPr lang="en-IN" sz="1400" dirty="0"/>
                    </a:p>
                  </a:txBody>
                  <a:tcPr marL="72522" marR="72522" marT="36261" marB="36261" anchor="ctr"/>
                </a:tc>
                <a:extLst>
                  <a:ext uri="{0D108BD9-81ED-4DB2-BD59-A6C34878D82A}">
                    <a16:rowId xmlns:a16="http://schemas.microsoft.com/office/drawing/2014/main" val="1977864333"/>
                  </a:ext>
                </a:extLst>
              </a:tr>
            </a:tbl>
          </a:graphicData>
        </a:graphic>
      </p:graphicFrame>
    </p:spTree>
    <p:extLst>
      <p:ext uri="{BB962C8B-B14F-4D97-AF65-F5344CB8AC3E}">
        <p14:creationId xmlns:p14="http://schemas.microsoft.com/office/powerpoint/2010/main" val="3734862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E9D5EE-7319-9521-2AF8-E6BD686766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44665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9C786D6-D41A-295A-3968-07F66368D3C9}"/>
              </a:ext>
            </a:extLst>
          </p:cNvPr>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50086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09600" y="1152525"/>
          <a:ext cx="10963273" cy="3448050"/>
        </p:xfrm>
        <a:graphic>
          <a:graphicData uri="http://schemas.openxmlformats.org/drawingml/2006/table">
            <a:tbl>
              <a:tblPr/>
              <a:tblGrid>
                <a:gridCol w="2192535">
                  <a:extLst>
                    <a:ext uri="{9D8B030D-6E8A-4147-A177-3AD203B41FA5}">
                      <a16:colId xmlns:a16="http://schemas.microsoft.com/office/drawing/2014/main" val="20000"/>
                    </a:ext>
                  </a:extLst>
                </a:gridCol>
                <a:gridCol w="4385220">
                  <a:extLst>
                    <a:ext uri="{9D8B030D-6E8A-4147-A177-3AD203B41FA5}">
                      <a16:colId xmlns:a16="http://schemas.microsoft.com/office/drawing/2014/main" val="20001"/>
                    </a:ext>
                  </a:extLst>
                </a:gridCol>
                <a:gridCol w="4385518">
                  <a:extLst>
                    <a:ext uri="{9D8B030D-6E8A-4147-A177-3AD203B41FA5}">
                      <a16:colId xmlns:a16="http://schemas.microsoft.com/office/drawing/2014/main" val="20002"/>
                    </a:ext>
                  </a:extLst>
                </a:gridCol>
              </a:tblGrid>
              <a:tr h="431006">
                <a:tc>
                  <a:txBody>
                    <a:bodyPr/>
                    <a:lstStyle/>
                    <a:p>
                      <a:pPr algn="l"/>
                      <a:r>
                        <a:rPr sz="1350" b="1" i="0" u="none">
                          <a:solidFill>
                            <a:srgbClr val="FFFFFF"/>
                          </a:solidFill>
                          <a:latin typeface="Inter"/>
                        </a:rPr>
                        <a:t>Entity</a:t>
                      </a:r>
                    </a:p>
                  </a:txBody>
                  <a:tcPr marL="63500" marR="63500" marT="25400" marB="25400" anchor="ctr">
                    <a:lnL>
                      <a:noFill/>
                    </a:lnL>
                    <a:lnR>
                      <a:noFill/>
                    </a:lnR>
                    <a:lnT>
                      <a:noFill/>
                    </a:lnT>
                    <a:lnB>
                      <a:noFill/>
                    </a:lnB>
                    <a:solidFill>
                      <a:srgbClr val="1E3A8A"/>
                    </a:solidFill>
                  </a:tcPr>
                </a:tc>
                <a:tc>
                  <a:txBody>
                    <a:bodyPr/>
                    <a:lstStyle/>
                    <a:p>
                      <a:pPr algn="l"/>
                      <a:r>
                        <a:rPr sz="1350" b="1" i="0" u="none">
                          <a:solidFill>
                            <a:srgbClr val="FFFFFF"/>
                          </a:solidFill>
                          <a:latin typeface="Inter"/>
                        </a:rPr>
                        <a:t>Primary Key (PK)</a:t>
                      </a:r>
                    </a:p>
                  </a:txBody>
                  <a:tcPr marL="63500" marR="63500" marT="25400" marB="25400" anchor="ctr">
                    <a:lnL>
                      <a:noFill/>
                    </a:lnL>
                    <a:lnR>
                      <a:noFill/>
                    </a:lnR>
                    <a:lnT>
                      <a:noFill/>
                    </a:lnT>
                    <a:lnB>
                      <a:noFill/>
                    </a:lnB>
                    <a:solidFill>
                      <a:srgbClr val="1E3A8A"/>
                    </a:solidFill>
                  </a:tcPr>
                </a:tc>
                <a:tc>
                  <a:txBody>
                    <a:bodyPr/>
                    <a:lstStyle/>
                    <a:p>
                      <a:pPr algn="l"/>
                      <a:r>
                        <a:rPr sz="1350" b="1" i="0" u="none">
                          <a:solidFill>
                            <a:srgbClr val="FFFFFF"/>
                          </a:solidFill>
                          <a:latin typeface="Inter"/>
                        </a:rPr>
                        <a:t>Foreign Keys (FK)</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31006">
                <a:tc>
                  <a:txBody>
                    <a:bodyPr/>
                    <a:lstStyle/>
                    <a:p>
                      <a:pPr algn="l"/>
                      <a:r>
                        <a:rPr sz="1200" b="1" i="0" u="none">
                          <a:solidFill>
                            <a:srgbClr val="334155"/>
                          </a:solidFill>
                          <a:latin typeface="Inter"/>
                        </a:rPr>
                        <a:t>Book</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Book_ID</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Category_ID, Publisher_ID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1"/>
                  </a:ext>
                </a:extLst>
              </a:tr>
              <a:tr h="431006">
                <a:tc>
                  <a:txBody>
                    <a:bodyPr/>
                    <a:lstStyle/>
                    <a:p>
                      <a:pPr algn="l"/>
                      <a:r>
                        <a:rPr sz="1200" b="1" i="0" u="none">
                          <a:solidFill>
                            <a:srgbClr val="334155"/>
                          </a:solidFill>
                          <a:latin typeface="Inter"/>
                        </a:rPr>
                        <a:t>Author</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Author_ID</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None</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31006">
                <a:tc>
                  <a:txBody>
                    <a:bodyPr/>
                    <a:lstStyle/>
                    <a:p>
                      <a:pPr algn="l"/>
                      <a:r>
                        <a:rPr sz="1200" b="1" i="0" u="none">
                          <a:solidFill>
                            <a:srgbClr val="334155"/>
                          </a:solidFill>
                          <a:latin typeface="Inter"/>
                        </a:rPr>
                        <a:t>Category</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Category_ID</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None</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3"/>
                  </a:ext>
                </a:extLst>
              </a:tr>
              <a:tr h="431006">
                <a:tc>
                  <a:txBody>
                    <a:bodyPr/>
                    <a:lstStyle/>
                    <a:p>
                      <a:pPr algn="l"/>
                      <a:r>
                        <a:rPr sz="1200" b="1" i="0" u="none">
                          <a:solidFill>
                            <a:srgbClr val="334155"/>
                          </a:solidFill>
                          <a:latin typeface="Inter"/>
                        </a:rPr>
                        <a:t>Member</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Member_ID</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None</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431006">
                <a:tc>
                  <a:txBody>
                    <a:bodyPr/>
                    <a:lstStyle/>
                    <a:p>
                      <a:pPr algn="l"/>
                      <a:r>
                        <a:rPr sz="1200" b="1" i="0" u="none">
                          <a:solidFill>
                            <a:srgbClr val="334155"/>
                          </a:solidFill>
                          <a:latin typeface="Inter"/>
                        </a:rPr>
                        <a:t>Transaction</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Transaction_ID</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Member_ID, Librarian_ID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5"/>
                  </a:ext>
                </a:extLst>
              </a:tr>
              <a:tr h="431006">
                <a:tc>
                  <a:txBody>
                    <a:bodyPr/>
                    <a:lstStyle/>
                    <a:p>
                      <a:pPr algn="l"/>
                      <a:r>
                        <a:rPr sz="1200" b="1" i="0" u="none">
                          <a:solidFill>
                            <a:srgbClr val="334155"/>
                          </a:solidFill>
                          <a:latin typeface="Inter"/>
                        </a:rPr>
                        <a:t>Fine</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Fine_ID</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Transaction_ID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6"/>
                  </a:ext>
                </a:extLst>
              </a:tr>
              <a:tr h="431008">
                <a:tc>
                  <a:txBody>
                    <a:bodyPr/>
                    <a:lstStyle/>
                    <a:p>
                      <a:pPr algn="l"/>
                      <a:r>
                        <a:rPr sz="1200" b="1" i="0" u="none">
                          <a:solidFill>
                            <a:srgbClr val="334155"/>
                          </a:solidFill>
                          <a:latin typeface="Inter"/>
                        </a:rPr>
                        <a:t>Writes (Junction)</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(Book_ID, Author_ID)</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Inter"/>
                        </a:rPr>
                        <a:t>Book_ID, Author_ID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7"/>
                  </a:ext>
                </a:extLst>
              </a:tr>
            </a:tbl>
          </a:graphicData>
        </a:graphic>
      </p:graphicFrame>
      <p:sp>
        <p:nvSpPr>
          <p:cNvPr id="3" name="TextBox 2"/>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1E3A8A"/>
                </a:solidFill>
                <a:latin typeface="Inter"/>
              </a:rPr>
              <a:t>Primary &amp; Foreign Keys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5A8111-30A7-0965-9DD6-DDCB09EC6C28}"/>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E07D3B7-3164-B8F4-E1DC-F16208B463A6}"/>
              </a:ext>
            </a:extLst>
          </p:cNvPr>
          <p:cNvSpPr/>
          <p:nvPr/>
        </p:nvSpPr>
        <p:spPr>
          <a:xfrm flipV="1">
            <a:off x="6556075" y="1147314"/>
            <a:ext cx="2907101" cy="1897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Library management system</a:t>
            </a:r>
          </a:p>
          <a:p>
            <a:pPr algn="ctr"/>
            <a:endParaRPr lang="en-IN" dirty="0"/>
          </a:p>
        </p:txBody>
      </p:sp>
    </p:spTree>
    <p:extLst>
      <p:ext uri="{BB962C8B-B14F-4D97-AF65-F5344CB8AC3E}">
        <p14:creationId xmlns:p14="http://schemas.microsoft.com/office/powerpoint/2010/main" val="1011142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FF8A-88B9-758B-30CC-3D52E0C7CDB9}"/>
              </a:ext>
            </a:extLst>
          </p:cNvPr>
          <p:cNvSpPr>
            <a:spLocks noGrp="1"/>
          </p:cNvSpPr>
          <p:nvPr>
            <p:ph type="title"/>
          </p:nvPr>
        </p:nvSpPr>
        <p:spPr>
          <a:xfrm>
            <a:off x="838200" y="125130"/>
            <a:ext cx="10515600" cy="721894"/>
          </a:xfrm>
        </p:spPr>
        <p:txBody>
          <a:bodyPr/>
          <a:lstStyle/>
          <a:p>
            <a:pPr algn="ctr"/>
            <a:r>
              <a:rPr lang="en-IN" dirty="0"/>
              <a:t>DATABASE&amp;CONSTRAINTS:</a:t>
            </a:r>
          </a:p>
        </p:txBody>
      </p:sp>
      <p:sp>
        <p:nvSpPr>
          <p:cNvPr id="9" name="Content Placeholder 8">
            <a:extLst>
              <a:ext uri="{FF2B5EF4-FFF2-40B4-BE49-F238E27FC236}">
                <a16:creationId xmlns:a16="http://schemas.microsoft.com/office/drawing/2014/main" id="{4EBCDCFB-EDA2-B998-F96E-45ABA1AEFDE9}"/>
              </a:ext>
            </a:extLst>
          </p:cNvPr>
          <p:cNvSpPr>
            <a:spLocks noGrp="1"/>
          </p:cNvSpPr>
          <p:nvPr>
            <p:ph idx="1"/>
          </p:nvPr>
        </p:nvSpPr>
        <p:spPr>
          <a:xfrm>
            <a:off x="577516" y="847024"/>
            <a:ext cx="10776284" cy="5765532"/>
          </a:xfrm>
        </p:spPr>
        <p:txBody>
          <a:bodyPr>
            <a:normAutofit lnSpcReduction="10000"/>
          </a:bodyPr>
          <a:lstStyle/>
          <a:p>
            <a:pPr marL="0" indent="0">
              <a:buNone/>
            </a:pPr>
            <a:r>
              <a:rPr lang="en-IN" dirty="0"/>
              <a:t>- Create </a:t>
            </a:r>
            <a:r>
              <a:rPr lang="en-IN" dirty="0" err="1"/>
              <a:t>DatabaseCREATE</a:t>
            </a:r>
            <a:r>
              <a:rPr lang="en-IN" dirty="0"/>
              <a:t> DATABASE </a:t>
            </a:r>
            <a:r>
              <a:rPr lang="en-IN" dirty="0" err="1"/>
              <a:t>LibraryManagementDB;USE</a:t>
            </a:r>
            <a:r>
              <a:rPr lang="en-IN" dirty="0"/>
              <a:t> </a:t>
            </a:r>
            <a:r>
              <a:rPr lang="en-IN" dirty="0" err="1"/>
              <a:t>LibraryManagementDB</a:t>
            </a:r>
            <a:r>
              <a:rPr lang="en-IN" dirty="0"/>
              <a:t>;</a:t>
            </a:r>
          </a:p>
          <a:p>
            <a:pPr marL="0" indent="0">
              <a:buNone/>
            </a:pPr>
            <a:r>
              <a:rPr lang="en-IN" dirty="0"/>
              <a:t>1. Category </a:t>
            </a:r>
            <a:r>
              <a:rPr lang="en-IN" dirty="0" err="1"/>
              <a:t>TableCREATE</a:t>
            </a:r>
            <a:r>
              <a:rPr lang="en-IN" dirty="0"/>
              <a:t> TABLE Category (    </a:t>
            </a:r>
            <a:r>
              <a:rPr lang="en-IN" dirty="0" err="1"/>
              <a:t>Category_ID</a:t>
            </a:r>
            <a:r>
              <a:rPr lang="en-IN" dirty="0"/>
              <a:t> INT PRIMARY KEY AUTO_INCREMENT,    </a:t>
            </a:r>
            <a:r>
              <a:rPr lang="en-IN" dirty="0" err="1"/>
              <a:t>Category_Name</a:t>
            </a:r>
            <a:r>
              <a:rPr lang="en-IN" dirty="0"/>
              <a:t> VARCHAR(100) NOT NULL UNIQUE,    Description TEXT</a:t>
            </a:r>
          </a:p>
          <a:p>
            <a:pPr marL="0" indent="0">
              <a:buNone/>
            </a:pPr>
            <a:r>
              <a:rPr lang="en-IN" dirty="0"/>
              <a:t>);</a:t>
            </a:r>
          </a:p>
          <a:p>
            <a:pPr marL="0" indent="0">
              <a:buNone/>
            </a:pPr>
            <a:r>
              <a:rPr lang="en-US" dirty="0"/>
              <a:t>2. Publisher </a:t>
            </a:r>
            <a:r>
              <a:rPr lang="en-US" dirty="0" err="1"/>
              <a:t>TableCREATE</a:t>
            </a:r>
            <a:r>
              <a:rPr lang="en-US" dirty="0"/>
              <a:t> TABLE Publisher (    </a:t>
            </a:r>
            <a:r>
              <a:rPr lang="en-US" dirty="0" err="1"/>
              <a:t>Publisher_ID</a:t>
            </a:r>
            <a:r>
              <a:rPr lang="en-US" dirty="0"/>
              <a:t> INT PRIMARY KEY AUTO_INCREMENT,    </a:t>
            </a:r>
            <a:r>
              <a:rPr lang="en-US" dirty="0" err="1"/>
              <a:t>Publisher_Name</a:t>
            </a:r>
            <a:r>
              <a:rPr lang="en-US" dirty="0"/>
              <a:t> VARCHAR(150) NOT NULL,    Email VARCHAR(100) UNIQUE,    Phone VARCHAR(20),    Address TEXT</a:t>
            </a:r>
          </a:p>
          <a:p>
            <a:pPr marL="0" indent="0">
              <a:buNone/>
            </a:pPr>
            <a:r>
              <a:rPr lang="en-US" dirty="0"/>
              <a:t>);</a:t>
            </a:r>
          </a:p>
          <a:p>
            <a:pPr>
              <a:buFontTx/>
              <a:buChar char="-"/>
            </a:pPr>
            <a:r>
              <a:rPr lang="en-US" dirty="0"/>
              <a:t>3. Author </a:t>
            </a:r>
            <a:r>
              <a:rPr lang="en-US" dirty="0" err="1"/>
              <a:t>TableCREATE</a:t>
            </a:r>
            <a:r>
              <a:rPr lang="en-US" dirty="0"/>
              <a:t> TABLE Author (    </a:t>
            </a:r>
            <a:r>
              <a:rPr lang="en-US" dirty="0" err="1"/>
              <a:t>Author_ID</a:t>
            </a:r>
            <a:r>
              <a:rPr lang="en-US" dirty="0"/>
              <a:t> INT PRIMARY KEY AUTO_INCREMENT,    </a:t>
            </a:r>
            <a:r>
              <a:rPr lang="en-US" dirty="0" err="1"/>
              <a:t>Author_Name</a:t>
            </a:r>
            <a:r>
              <a:rPr lang="en-US" dirty="0"/>
              <a:t> VARCHAR(150) NOT NULL,    Email VARCHAR(100) UNIQUE,    Phone VARCHAR(20),    Address TEXT</a:t>
            </a:r>
          </a:p>
          <a:p>
            <a:pPr marL="0" indent="0">
              <a:buNone/>
            </a:pPr>
            <a:r>
              <a:rPr lang="en-US" dirty="0"/>
              <a:t>);</a:t>
            </a:r>
            <a:endParaRPr lang="en-IN" dirty="0"/>
          </a:p>
        </p:txBody>
      </p:sp>
    </p:spTree>
    <p:extLst>
      <p:ext uri="{BB962C8B-B14F-4D97-AF65-F5344CB8AC3E}">
        <p14:creationId xmlns:p14="http://schemas.microsoft.com/office/powerpoint/2010/main" val="1987761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E7D36-CC53-2CF6-6FFD-4A5C9A211D1D}"/>
              </a:ext>
            </a:extLst>
          </p:cNvPr>
          <p:cNvSpPr>
            <a:spLocks noGrp="1"/>
          </p:cNvSpPr>
          <p:nvPr>
            <p:ph idx="1"/>
          </p:nvPr>
        </p:nvSpPr>
        <p:spPr>
          <a:xfrm>
            <a:off x="490888" y="346509"/>
            <a:ext cx="10862912" cy="6429676"/>
          </a:xfrm>
        </p:spPr>
        <p:txBody>
          <a:bodyPr>
            <a:normAutofit fontScale="92500" lnSpcReduction="10000"/>
          </a:bodyPr>
          <a:lstStyle/>
          <a:p>
            <a:pPr marL="0" indent="0">
              <a:buNone/>
            </a:pPr>
            <a:r>
              <a:rPr lang="en-US" dirty="0"/>
              <a:t>-- 4. Librarian </a:t>
            </a:r>
            <a:r>
              <a:rPr lang="en-US" dirty="0" err="1"/>
              <a:t>TableCREATE</a:t>
            </a:r>
            <a:r>
              <a:rPr lang="en-US" dirty="0"/>
              <a:t> TABLE Librarian (    </a:t>
            </a:r>
            <a:r>
              <a:rPr lang="en-US" dirty="0" err="1"/>
              <a:t>Librarian_ID</a:t>
            </a:r>
            <a:r>
              <a:rPr lang="en-US" dirty="0"/>
              <a:t> INT PRIMARY KEY AUTO_INCREMENT,    Name VARCHAR(100) NOT NULL,    Email VARCHAR(100) NOT NULL UNIQUE,    Phone VARCHAR(20),    Salary DECIMAL(10, 2) CHECK (Salary &gt;= 0)</a:t>
            </a:r>
          </a:p>
          <a:p>
            <a:pPr marL="0" indent="0">
              <a:buNone/>
            </a:pPr>
            <a:r>
              <a:rPr lang="en-US" dirty="0"/>
              <a:t>);</a:t>
            </a:r>
          </a:p>
          <a:p>
            <a:pPr marL="0" indent="0">
              <a:buNone/>
            </a:pPr>
            <a:r>
              <a:rPr lang="en-US" dirty="0"/>
              <a:t>-- 5. Member </a:t>
            </a:r>
            <a:r>
              <a:rPr lang="en-US" dirty="0" err="1"/>
              <a:t>TableCREATE</a:t>
            </a:r>
            <a:r>
              <a:rPr lang="en-US" dirty="0"/>
              <a:t> TABLE Member (    </a:t>
            </a:r>
            <a:r>
              <a:rPr lang="en-US" dirty="0" err="1"/>
              <a:t>Member_ID</a:t>
            </a:r>
            <a:r>
              <a:rPr lang="en-US" dirty="0"/>
              <a:t> INT PRIMARY KEY AUTO_INCREMENT,    Name VARCHAR(100) NOT NULL,    Email VARCHAR(100) NOT NULL UNIQUE,    Phone VARCHAR(20) NOT NULL,    Address TEXT NOT NULL</a:t>
            </a:r>
          </a:p>
          <a:p>
            <a:pPr marL="0" indent="0">
              <a:buNone/>
            </a:pPr>
            <a:r>
              <a:rPr lang="en-US" dirty="0"/>
              <a:t>);</a:t>
            </a:r>
          </a:p>
          <a:p>
            <a:pPr marL="0" indent="0">
              <a:buNone/>
            </a:pPr>
            <a:r>
              <a:rPr lang="en-US" dirty="0"/>
              <a:t>-- 6. Book </a:t>
            </a:r>
            <a:r>
              <a:rPr lang="en-US" dirty="0" err="1"/>
              <a:t>TableCREATE</a:t>
            </a:r>
            <a:r>
              <a:rPr lang="en-US" dirty="0"/>
              <a:t> TABLE Book (    </a:t>
            </a:r>
            <a:r>
              <a:rPr lang="en-US" dirty="0" err="1"/>
              <a:t>Book_ID</a:t>
            </a:r>
            <a:r>
              <a:rPr lang="en-US" dirty="0"/>
              <a:t> INT PRIMARY KEY AUTO_INCREMENT,    Title VARCHAR(255) NOT NULL,    ISBN VARCHAR(13) NOT NULL UNIQUE,    Price DECIMAL(10, 2) CHECK (Price &gt;= 0),    </a:t>
            </a:r>
            <a:r>
              <a:rPr lang="en-US" dirty="0" err="1"/>
              <a:t>Category_ID</a:t>
            </a:r>
            <a:r>
              <a:rPr lang="en-US" dirty="0"/>
              <a:t> INT NOT NULL,    </a:t>
            </a:r>
            <a:r>
              <a:rPr lang="en-US" dirty="0" err="1"/>
              <a:t>Publisher_ID</a:t>
            </a:r>
            <a:r>
              <a:rPr lang="en-US" dirty="0"/>
              <a:t> INT NOT NULL,    FOREIGN KEY (</a:t>
            </a:r>
            <a:r>
              <a:rPr lang="en-US" dirty="0" err="1"/>
              <a:t>Category_ID</a:t>
            </a:r>
            <a:r>
              <a:rPr lang="en-US" dirty="0"/>
              <a:t>) REFERENCES Category(</a:t>
            </a:r>
            <a:r>
              <a:rPr lang="en-US" dirty="0" err="1"/>
              <a:t>Category_ID</a:t>
            </a:r>
            <a:r>
              <a:rPr lang="en-US" dirty="0"/>
              <a:t>) ON DELETE CASCADE,    FOREIGN KEY (</a:t>
            </a:r>
            <a:r>
              <a:rPr lang="en-US" dirty="0" err="1"/>
              <a:t>Publisher_ID</a:t>
            </a:r>
            <a:r>
              <a:rPr lang="en-US" dirty="0"/>
              <a:t>) REFERENCES Publisher(</a:t>
            </a:r>
            <a:r>
              <a:rPr lang="en-US" dirty="0" err="1"/>
              <a:t>Publisher_ID</a:t>
            </a:r>
            <a:r>
              <a:rPr lang="en-US" dirty="0"/>
              <a:t>) ON DELETE CASCADE</a:t>
            </a:r>
          </a:p>
          <a:p>
            <a:pPr marL="0" indent="0">
              <a:buNone/>
            </a:pPr>
            <a:r>
              <a:rPr lang="en-US" dirty="0"/>
              <a:t>);</a:t>
            </a:r>
          </a:p>
        </p:txBody>
      </p:sp>
    </p:spTree>
    <p:extLst>
      <p:ext uri="{BB962C8B-B14F-4D97-AF65-F5344CB8AC3E}">
        <p14:creationId xmlns:p14="http://schemas.microsoft.com/office/powerpoint/2010/main" val="3117362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86A772-261B-2E40-9267-51FF0B01903F}"/>
              </a:ext>
            </a:extLst>
          </p:cNvPr>
          <p:cNvSpPr>
            <a:spLocks noGrp="1"/>
          </p:cNvSpPr>
          <p:nvPr>
            <p:ph idx="1"/>
          </p:nvPr>
        </p:nvSpPr>
        <p:spPr>
          <a:xfrm>
            <a:off x="356135" y="558265"/>
            <a:ext cx="10997665" cy="5618698"/>
          </a:xfrm>
        </p:spPr>
        <p:txBody>
          <a:bodyPr>
            <a:noAutofit/>
          </a:bodyPr>
          <a:lstStyle/>
          <a:p>
            <a:pPr marL="0" indent="0">
              <a:buNone/>
            </a:pPr>
            <a:r>
              <a:rPr lang="en-US" sz="1800" dirty="0"/>
              <a:t>7. Writes Table (Junction Table for N:M Author-Book Relationship)CREATE TABLE Writes (    </a:t>
            </a:r>
            <a:r>
              <a:rPr lang="en-US" sz="1800" dirty="0" err="1"/>
              <a:t>Book_ID</a:t>
            </a:r>
            <a:r>
              <a:rPr lang="en-US" sz="1800" dirty="0"/>
              <a:t> INT,    </a:t>
            </a:r>
            <a:r>
              <a:rPr lang="en-US" sz="1800" dirty="0" err="1"/>
              <a:t>Author_ID</a:t>
            </a:r>
            <a:r>
              <a:rPr lang="en-US" sz="1800" dirty="0"/>
              <a:t> INT,    PRIMARY KEY (</a:t>
            </a:r>
            <a:r>
              <a:rPr lang="en-US" sz="1800" dirty="0" err="1"/>
              <a:t>Book_ID</a:t>
            </a:r>
            <a:r>
              <a:rPr lang="en-US" sz="1800" dirty="0"/>
              <a:t>, </a:t>
            </a:r>
            <a:r>
              <a:rPr lang="en-US" sz="1800" dirty="0" err="1"/>
              <a:t>Author_ID</a:t>
            </a:r>
            <a:r>
              <a:rPr lang="en-US" sz="1800" dirty="0"/>
              <a:t>),    FOREIGN KEY (</a:t>
            </a:r>
            <a:r>
              <a:rPr lang="en-US" sz="1800" dirty="0" err="1"/>
              <a:t>Book_ID</a:t>
            </a:r>
            <a:r>
              <a:rPr lang="en-US" sz="1800" dirty="0"/>
              <a:t>) REFERENCES Book(</a:t>
            </a:r>
            <a:r>
              <a:rPr lang="en-US" sz="1800" dirty="0" err="1"/>
              <a:t>Book_ID</a:t>
            </a:r>
            <a:r>
              <a:rPr lang="en-US" sz="1800" dirty="0"/>
              <a:t>) ON DELETE CASCADE,    FOREIGN KEY (</a:t>
            </a:r>
            <a:r>
              <a:rPr lang="en-US" sz="1800" dirty="0" err="1"/>
              <a:t>Author_ID</a:t>
            </a:r>
            <a:r>
              <a:rPr lang="en-US" sz="1800" dirty="0"/>
              <a:t>) REFERENCES Author(</a:t>
            </a:r>
            <a:r>
              <a:rPr lang="en-US" sz="1800" dirty="0" err="1"/>
              <a:t>Author_ID</a:t>
            </a:r>
            <a:r>
              <a:rPr lang="en-US" sz="1800" dirty="0"/>
              <a:t>) ON DELETE CASCADE</a:t>
            </a:r>
          </a:p>
          <a:p>
            <a:pPr marL="0" indent="0">
              <a:buNone/>
            </a:pPr>
            <a:r>
              <a:rPr lang="en-US" sz="1800" dirty="0"/>
              <a:t>);</a:t>
            </a:r>
          </a:p>
          <a:p>
            <a:pPr marL="0" indent="0">
              <a:buNone/>
            </a:pPr>
            <a:r>
              <a:rPr lang="en-US" sz="1800" dirty="0"/>
              <a:t>-- 8. Transaction </a:t>
            </a:r>
            <a:r>
              <a:rPr lang="en-US" sz="1800" dirty="0" err="1"/>
              <a:t>TableCREATE</a:t>
            </a:r>
            <a:r>
              <a:rPr lang="en-US" sz="1800" dirty="0"/>
              <a:t> TABLE Transaction (    </a:t>
            </a:r>
            <a:r>
              <a:rPr lang="en-US" sz="1800" dirty="0" err="1"/>
              <a:t>Transaction_ID</a:t>
            </a:r>
            <a:r>
              <a:rPr lang="en-US" sz="1800" dirty="0"/>
              <a:t> INT PRIMARY KEY AUTO_INCREMENT,    </a:t>
            </a:r>
            <a:r>
              <a:rPr lang="en-US" sz="1800" dirty="0" err="1"/>
              <a:t>Issue_Date</a:t>
            </a:r>
            <a:r>
              <a:rPr lang="en-US" sz="1800" dirty="0"/>
              <a:t> DATE NOT NULL,    </a:t>
            </a:r>
            <a:r>
              <a:rPr lang="en-US" sz="1800" dirty="0" err="1"/>
              <a:t>Return_Date</a:t>
            </a:r>
            <a:r>
              <a:rPr lang="en-US" sz="1800" dirty="0"/>
              <a:t> DATE,    </a:t>
            </a:r>
            <a:r>
              <a:rPr lang="en-US" sz="1800" dirty="0" err="1"/>
              <a:t>Member_ID</a:t>
            </a:r>
            <a:r>
              <a:rPr lang="en-US" sz="1800" dirty="0"/>
              <a:t> INT NOT NULL,    </a:t>
            </a:r>
            <a:r>
              <a:rPr lang="en-US" sz="1800" dirty="0" err="1"/>
              <a:t>Librarian_ID</a:t>
            </a:r>
            <a:r>
              <a:rPr lang="en-US" sz="1800" dirty="0"/>
              <a:t> INT NOT NULL,    FOREIGN KEY (</a:t>
            </a:r>
            <a:r>
              <a:rPr lang="en-US" sz="1800" dirty="0" err="1"/>
              <a:t>Member_ID</a:t>
            </a:r>
            <a:r>
              <a:rPr lang="en-US" sz="1800" dirty="0"/>
              <a:t>) REFERENCES Member(</a:t>
            </a:r>
            <a:r>
              <a:rPr lang="en-US" sz="1800" dirty="0" err="1"/>
              <a:t>Member_ID</a:t>
            </a:r>
            <a:r>
              <a:rPr lang="en-US" sz="1800" dirty="0"/>
              <a:t>) ON DELETE CASCADE,    FOREIGN KEY (</a:t>
            </a:r>
            <a:r>
              <a:rPr lang="en-US" sz="1800" dirty="0" err="1"/>
              <a:t>Librarian_ID</a:t>
            </a:r>
            <a:r>
              <a:rPr lang="en-US" sz="1800" dirty="0"/>
              <a:t>) REFERENCES Librarian(</a:t>
            </a:r>
            <a:r>
              <a:rPr lang="en-US" sz="1800" dirty="0" err="1"/>
              <a:t>Librarian_ID</a:t>
            </a:r>
            <a:r>
              <a:rPr lang="en-US" sz="1800" dirty="0"/>
              <a:t>) ON DELETE CASCADE,    CONSTRAINT </a:t>
            </a:r>
            <a:r>
              <a:rPr lang="en-US" sz="1800" dirty="0" err="1"/>
              <a:t>CHK_Dates</a:t>
            </a:r>
            <a:r>
              <a:rPr lang="en-US" sz="1800" dirty="0"/>
              <a:t> CHECK (</a:t>
            </a:r>
            <a:r>
              <a:rPr lang="en-US" sz="1800" dirty="0" err="1"/>
              <a:t>Return_Date</a:t>
            </a:r>
            <a:r>
              <a:rPr lang="en-US" sz="1800" dirty="0"/>
              <a:t> IS NULL OR </a:t>
            </a:r>
            <a:r>
              <a:rPr lang="en-US" sz="1800" dirty="0" err="1"/>
              <a:t>Return_Date</a:t>
            </a:r>
            <a:r>
              <a:rPr lang="en-US" sz="1800" dirty="0"/>
              <a:t> &gt;= </a:t>
            </a:r>
            <a:r>
              <a:rPr lang="en-US" sz="1800" dirty="0" err="1"/>
              <a:t>Issue_Date</a:t>
            </a:r>
            <a:r>
              <a:rPr lang="en-US" sz="1800" dirty="0"/>
              <a:t>)</a:t>
            </a:r>
          </a:p>
          <a:p>
            <a:pPr marL="0" indent="0">
              <a:buNone/>
            </a:pPr>
            <a:r>
              <a:rPr lang="en-US" sz="1800" dirty="0"/>
              <a:t>);</a:t>
            </a:r>
          </a:p>
          <a:p>
            <a:pPr marL="0" indent="0">
              <a:buNone/>
            </a:pPr>
            <a:r>
              <a:rPr lang="en-US" sz="1800" dirty="0"/>
              <a:t>-- 9. Transaction_Book Table (Junction Table for N:M Transaction-Book Relationship)CREATE TABLE Transaction_Book (    </a:t>
            </a:r>
            <a:r>
              <a:rPr lang="en-US" sz="1800" dirty="0" err="1"/>
              <a:t>Transaction_ID</a:t>
            </a:r>
            <a:r>
              <a:rPr lang="en-US" sz="1800" dirty="0"/>
              <a:t> INT,    </a:t>
            </a:r>
            <a:r>
              <a:rPr lang="en-US" sz="1800" dirty="0" err="1"/>
              <a:t>Book_ID</a:t>
            </a:r>
            <a:r>
              <a:rPr lang="en-US" sz="1800" dirty="0"/>
              <a:t> INT,    PRIMARY KEY (</a:t>
            </a:r>
            <a:r>
              <a:rPr lang="en-US" sz="1800" dirty="0" err="1"/>
              <a:t>Transaction_ID</a:t>
            </a:r>
            <a:r>
              <a:rPr lang="en-US" sz="1800" dirty="0"/>
              <a:t>, </a:t>
            </a:r>
            <a:r>
              <a:rPr lang="en-US" sz="1800" dirty="0" err="1"/>
              <a:t>Book_ID</a:t>
            </a:r>
            <a:r>
              <a:rPr lang="en-US" sz="1800" dirty="0"/>
              <a:t>),    FOREIGN KEY (</a:t>
            </a:r>
            <a:r>
              <a:rPr lang="en-US" sz="1800" dirty="0" err="1"/>
              <a:t>Transaction_ID</a:t>
            </a:r>
            <a:r>
              <a:rPr lang="en-US" sz="1800" dirty="0"/>
              <a:t>) REFERENCES Transaction(</a:t>
            </a:r>
            <a:r>
              <a:rPr lang="en-US" sz="1800" dirty="0" err="1"/>
              <a:t>Transaction_ID</a:t>
            </a:r>
            <a:r>
              <a:rPr lang="en-US" sz="1800" dirty="0"/>
              <a:t>) ON DELETE CASCADE,    FOREIGN KEY (</a:t>
            </a:r>
            <a:r>
              <a:rPr lang="en-US" sz="1800" dirty="0" err="1"/>
              <a:t>Book_ID</a:t>
            </a:r>
            <a:r>
              <a:rPr lang="en-US" sz="1800" dirty="0"/>
              <a:t>) REFERENCES Book(</a:t>
            </a:r>
            <a:r>
              <a:rPr lang="en-US" sz="1800" dirty="0" err="1"/>
              <a:t>Book_ID</a:t>
            </a:r>
            <a:r>
              <a:rPr lang="en-US" sz="1800" dirty="0"/>
              <a:t>) ON DELETE CASCADE</a:t>
            </a:r>
          </a:p>
          <a:p>
            <a:pPr marL="0" indent="0">
              <a:buNone/>
            </a:pPr>
            <a:r>
              <a:rPr lang="en-US" sz="1800" dirty="0"/>
              <a:t>);</a:t>
            </a:r>
          </a:p>
          <a:p>
            <a:pPr marL="0" indent="0">
              <a:buNone/>
            </a:pPr>
            <a:r>
              <a:rPr lang="en-US" sz="1800" dirty="0"/>
              <a:t>-- 10. Fine </a:t>
            </a:r>
            <a:r>
              <a:rPr lang="en-US" sz="1800" dirty="0" err="1"/>
              <a:t>TableCREATE</a:t>
            </a:r>
            <a:r>
              <a:rPr lang="en-US" sz="1800" dirty="0"/>
              <a:t> TABLE Fine (    </a:t>
            </a:r>
            <a:r>
              <a:rPr lang="en-US" sz="1800" dirty="0" err="1"/>
              <a:t>Fine_ID</a:t>
            </a:r>
            <a:r>
              <a:rPr lang="en-US" sz="1800" dirty="0"/>
              <a:t> INT PRIMARY KEY AUTO_INCREMENT,    Amount DECIMAL(10, 2) NOT NULL CHECK (Amount &gt;= 0),    </a:t>
            </a:r>
            <a:r>
              <a:rPr lang="en-US" sz="1800" dirty="0" err="1"/>
              <a:t>Fine_Date</a:t>
            </a:r>
            <a:r>
              <a:rPr lang="en-US" sz="1800" dirty="0"/>
              <a:t> DATE NOT NULL,    </a:t>
            </a:r>
            <a:r>
              <a:rPr lang="en-US" sz="1800" dirty="0" err="1"/>
              <a:t>Payment_Status</a:t>
            </a:r>
            <a:r>
              <a:rPr lang="en-US" sz="1800" dirty="0"/>
              <a:t> VARCHAR(20) DEFAULT 'Pending' CHECK (</a:t>
            </a:r>
            <a:r>
              <a:rPr lang="en-US" sz="1800" dirty="0" err="1"/>
              <a:t>Payment_Status</a:t>
            </a:r>
            <a:r>
              <a:rPr lang="en-US" sz="1800" dirty="0"/>
              <a:t> IN ('Pending', 'Paid', 'Waived')),    </a:t>
            </a:r>
            <a:r>
              <a:rPr lang="en-US" sz="1800" dirty="0" err="1"/>
              <a:t>Transaction_ID</a:t>
            </a:r>
            <a:r>
              <a:rPr lang="en-US" sz="1800" dirty="0"/>
              <a:t> INT UNIQUE NOT NULL,    FOREIGN KEY (</a:t>
            </a:r>
            <a:r>
              <a:rPr lang="en-US" sz="1800" dirty="0" err="1"/>
              <a:t>Transaction_ID</a:t>
            </a:r>
            <a:r>
              <a:rPr lang="en-US" sz="1800" dirty="0"/>
              <a:t>) REFERENCES Transaction(</a:t>
            </a:r>
            <a:r>
              <a:rPr lang="en-US" sz="1800" dirty="0" err="1"/>
              <a:t>Transaction_ID</a:t>
            </a:r>
            <a:r>
              <a:rPr lang="en-US" sz="1800" dirty="0"/>
              <a:t>) ON DELETE CASCADE</a:t>
            </a:r>
          </a:p>
          <a:p>
            <a:pPr marL="0" indent="0">
              <a:buNone/>
            </a:pPr>
            <a:r>
              <a:rPr lang="en-US" sz="1800" dirty="0"/>
              <a:t>);</a:t>
            </a:r>
            <a:endParaRPr lang="en-IN" sz="1800" dirty="0"/>
          </a:p>
        </p:txBody>
      </p:sp>
    </p:spTree>
    <p:extLst>
      <p:ext uri="{BB962C8B-B14F-4D97-AF65-F5344CB8AC3E}">
        <p14:creationId xmlns:p14="http://schemas.microsoft.com/office/powerpoint/2010/main" val="2903959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AC20B297-2CB5-C2FA-F512-4A87A2BE3210}"/>
                  </a:ext>
                </a:extLst>
              </p:cNvPr>
              <p:cNvSpPr>
                <a:spLocks noGrp="1" noChangeArrowheads="1"/>
              </p:cNvSpPr>
              <p:nvPr>
                <p:ph idx="1"/>
              </p:nvPr>
            </p:nvSpPr>
            <p:spPr bwMode="auto">
              <a:xfrm>
                <a:off x="375385" y="60644"/>
                <a:ext cx="11600239" cy="54045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b="1" dirty="0"/>
                  <a:t>                                      Constraints Used</a:t>
                </a:r>
                <a:endParaRPr lang="en-IN" dirty="0"/>
              </a:p>
              <a:p>
                <a:pPr lvl="0"/>
                <a:r>
                  <a:rPr lang="en-IN" b="1" dirty="0"/>
                  <a:t>NOT NULL</a:t>
                </a:r>
                <a:r>
                  <a:rPr lang="en-IN" dirty="0"/>
                  <a:t> </a:t>
                </a:r>
                <a14:m>
                  <m:oMath xmlns:m="http://schemas.openxmlformats.org/officeDocument/2006/math">
                    <m:r>
                      <a:rPr lang="en-IN">
                        <a:latin typeface="Cambria Math" panose="02040503050406030204" pitchFamily="18" charset="0"/>
                      </a:rPr>
                      <m:t>→</m:t>
                    </m:r>
                  </m:oMath>
                </a14:m>
                <a:r>
                  <a:rPr lang="en-IN" dirty="0"/>
                  <a:t>Name, Title, ISBN, </a:t>
                </a:r>
                <a:r>
                  <a:rPr lang="en-IN" dirty="0" err="1"/>
                  <a:t>Issue_Date</a:t>
                </a:r>
                <a:r>
                  <a:rPr lang="en-IN" dirty="0"/>
                  <a:t>, and </a:t>
                </a:r>
                <a:r>
                  <a:rPr lang="en-IN" dirty="0" err="1"/>
                  <a:t>Fine_Date</a:t>
                </a:r>
                <a:r>
                  <a:rPr lang="en-IN" dirty="0"/>
                  <a:t> cannot be empty.</a:t>
                </a:r>
              </a:p>
              <a:p>
                <a:pPr lvl="0"/>
                <a:r>
                  <a:rPr lang="en-IN" b="1" dirty="0"/>
                  <a:t>UNIQUE</a:t>
                </a:r>
                <a:r>
                  <a:rPr lang="en-IN" dirty="0"/>
                  <a:t> </a:t>
                </a:r>
                <a14:m>
                  <m:oMath xmlns:m="http://schemas.openxmlformats.org/officeDocument/2006/math">
                    <m:r>
                      <a:rPr lang="en-IN">
                        <a:latin typeface="Cambria Math" panose="02040503050406030204" pitchFamily="18" charset="0"/>
                      </a:rPr>
                      <m:t>→</m:t>
                    </m:r>
                  </m:oMath>
                </a14:m>
                <a:r>
                  <a:rPr lang="en-IN" dirty="0"/>
                  <a:t>Email, </a:t>
                </a:r>
                <a:r>
                  <a:rPr lang="en-IN" dirty="0" err="1"/>
                  <a:t>Category_Name</a:t>
                </a:r>
                <a:r>
                  <a:rPr lang="en-IN" dirty="0"/>
                  <a:t>, ISBN, and </a:t>
                </a:r>
                <a:r>
                  <a:rPr lang="en-IN" dirty="0" err="1"/>
                  <a:t>Transaction_ID</a:t>
                </a:r>
                <a:r>
                  <a:rPr lang="en-IN" dirty="0"/>
                  <a:t> cannot be duplicated.</a:t>
                </a:r>
              </a:p>
              <a:p>
                <a:pPr lvl="0"/>
                <a:r>
                  <a:rPr lang="en-IN" b="1" dirty="0"/>
                  <a:t>CHECK</a:t>
                </a:r>
                <a:r>
                  <a:rPr lang="en-IN" dirty="0"/>
                  <a:t> </a:t>
                </a:r>
                <a14:m>
                  <m:oMath xmlns:m="http://schemas.openxmlformats.org/officeDocument/2006/math">
                    <m:r>
                      <a:rPr lang="en-IN">
                        <a:latin typeface="Cambria Math" panose="02040503050406030204" pitchFamily="18" charset="0"/>
                      </a:rPr>
                      <m:t>→</m:t>
                    </m:r>
                  </m:oMath>
                </a14:m>
                <a:r>
                  <a:rPr lang="en-IN" dirty="0"/>
                  <a:t>Price, Salary, and Amount must be </a:t>
                </a:r>
                <a14:m>
                  <m:oMath xmlns:m="http://schemas.openxmlformats.org/officeDocument/2006/math">
                    <m:r>
                      <a:rPr lang="en-IN">
                        <a:latin typeface="Cambria Math" panose="02040503050406030204" pitchFamily="18" charset="0"/>
                      </a:rPr>
                      <m:t>≥0</m:t>
                    </m:r>
                  </m:oMath>
                </a14:m>
                <a:r>
                  <a:rPr lang="en-IN" dirty="0"/>
                  <a:t>, </a:t>
                </a:r>
                <a:r>
                  <a:rPr lang="en-IN" dirty="0" err="1"/>
                  <a:t>Return_Date</a:t>
                </a:r>
                <a:r>
                  <a:rPr lang="en-IN" dirty="0"/>
                  <a:t> </a:t>
                </a:r>
                <a14:m>
                  <m:oMath xmlns:m="http://schemas.openxmlformats.org/officeDocument/2006/math">
                    <m:r>
                      <a:rPr lang="en-IN">
                        <a:latin typeface="Cambria Math" panose="02040503050406030204" pitchFamily="18" charset="0"/>
                      </a:rPr>
                      <m:t>≥</m:t>
                    </m:r>
                  </m:oMath>
                </a14:m>
                <a:r>
                  <a:rPr lang="en-IN" dirty="0" err="1"/>
                  <a:t>Issue_Date</a:t>
                </a:r>
                <a:r>
                  <a:rPr lang="en-IN" dirty="0"/>
                  <a:t>, and </a:t>
                </a:r>
                <a:r>
                  <a:rPr lang="en-IN" dirty="0" err="1"/>
                  <a:t>Payment_Status</a:t>
                </a:r>
                <a:r>
                  <a:rPr lang="en-IN" dirty="0"/>
                  <a:t> must be valid.</a:t>
                </a:r>
              </a:p>
              <a:p>
                <a:pPr lvl="0"/>
                <a:r>
                  <a:rPr lang="en-IN" b="1" dirty="0"/>
                  <a:t>DEFAULT</a:t>
                </a:r>
                <a:r>
                  <a:rPr lang="en-IN" dirty="0"/>
                  <a:t> </a:t>
                </a:r>
                <a14:m>
                  <m:oMath xmlns:m="http://schemas.openxmlformats.org/officeDocument/2006/math">
                    <m:r>
                      <a:rPr lang="en-IN">
                        <a:latin typeface="Cambria Math" panose="02040503050406030204" pitchFamily="18" charset="0"/>
                      </a:rPr>
                      <m:t>→</m:t>
                    </m:r>
                  </m:oMath>
                </a14:m>
                <a:r>
                  <a:rPr lang="en-IN" dirty="0" err="1"/>
                  <a:t>Payment_Status</a:t>
                </a:r>
                <a:r>
                  <a:rPr lang="en-IN" dirty="0"/>
                  <a:t> starts as 'Pending'.</a:t>
                </a:r>
              </a:p>
              <a:p>
                <a:pPr lvl="0"/>
                <a:r>
                  <a:rPr lang="en-IN" b="1" dirty="0"/>
                  <a:t>PRIMARY KEY</a:t>
                </a:r>
                <a:r>
                  <a:rPr lang="en-IN" dirty="0"/>
                  <a:t> </a:t>
                </a:r>
                <a14:m>
                  <m:oMath xmlns:m="http://schemas.openxmlformats.org/officeDocument/2006/math">
                    <m:r>
                      <a:rPr lang="en-IN">
                        <a:latin typeface="Cambria Math" panose="02040503050406030204" pitchFamily="18" charset="0"/>
                      </a:rPr>
                      <m:t>→</m:t>
                    </m:r>
                  </m:oMath>
                </a14:m>
                <a:r>
                  <a:rPr lang="en-IN" dirty="0"/>
                  <a:t>Uniquely identifies each record across all entities and junction tables.</a:t>
                </a:r>
              </a:p>
              <a:p>
                <a:pPr lvl="0"/>
                <a:r>
                  <a:rPr lang="en-IN" b="1" dirty="0"/>
                  <a:t>FOREIGN KEY</a:t>
                </a:r>
                <a:r>
                  <a:rPr lang="en-IN" dirty="0"/>
                  <a:t> </a:t>
                </a:r>
                <a14:m>
                  <m:oMath xmlns:m="http://schemas.openxmlformats.org/officeDocument/2006/math">
                    <m:r>
                      <a:rPr lang="en-IN">
                        <a:latin typeface="Cambria Math" panose="02040503050406030204" pitchFamily="18" charset="0"/>
                      </a:rPr>
                      <m:t>→</m:t>
                    </m:r>
                  </m:oMath>
                </a14:m>
                <a:r>
                  <a:rPr lang="en-IN" dirty="0"/>
                  <a:t>Connects related tables like Book, Member, Transaction, Librarian, and Fine.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4" name="Rectangle 1">
                <a:extLst>
                  <a:ext uri="{FF2B5EF4-FFF2-40B4-BE49-F238E27FC236}">
                    <a16:creationId xmlns:a16="http://schemas.microsoft.com/office/drawing/2014/main" id="{AC20B297-2CB5-C2FA-F512-4A87A2BE3210}"/>
                  </a:ext>
                </a:extLst>
              </p:cNvPr>
              <p:cNvSpPr>
                <a:spLocks noGrp="1" noRot="1" noChangeAspect="1" noMove="1" noResize="1" noEditPoints="1" noAdjustHandles="1" noChangeArrowheads="1" noChangeShapeType="1" noTextEdit="1"/>
              </p:cNvSpPr>
              <p:nvPr>
                <p:ph idx="1"/>
              </p:nvPr>
            </p:nvSpPr>
            <p:spPr bwMode="auto">
              <a:xfrm>
                <a:off x="375385" y="60644"/>
                <a:ext cx="11600239" cy="5404556"/>
              </a:xfrm>
              <a:prstGeom prst="rect">
                <a:avLst/>
              </a:prstGeom>
              <a:blipFill>
                <a:blip r:embed="rId2"/>
                <a:stretch>
                  <a:fillRect l="-946" t="-135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4031400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CB1B-1221-B55E-AE9C-D085021A0DC5}"/>
              </a:ext>
            </a:extLst>
          </p:cNvPr>
          <p:cNvSpPr>
            <a:spLocks noGrp="1"/>
          </p:cNvSpPr>
          <p:nvPr>
            <p:ph type="title"/>
          </p:nvPr>
        </p:nvSpPr>
        <p:spPr>
          <a:xfrm>
            <a:off x="838200" y="85994"/>
            <a:ext cx="10515600" cy="828406"/>
          </a:xfrm>
        </p:spPr>
        <p:txBody>
          <a:bodyPr/>
          <a:lstStyle/>
          <a:p>
            <a:pPr algn="ctr"/>
            <a:r>
              <a:rPr lang="en-IN" dirty="0"/>
              <a:t>SAMPLE DATA INSERTION:</a:t>
            </a:r>
          </a:p>
        </p:txBody>
      </p:sp>
      <p:sp>
        <p:nvSpPr>
          <p:cNvPr id="5" name="Content Placeholder 4">
            <a:extLst>
              <a:ext uri="{FF2B5EF4-FFF2-40B4-BE49-F238E27FC236}">
                <a16:creationId xmlns:a16="http://schemas.microsoft.com/office/drawing/2014/main" id="{A76E11C4-A913-0C8D-F10A-3CD922AB578A}"/>
              </a:ext>
            </a:extLst>
          </p:cNvPr>
          <p:cNvSpPr>
            <a:spLocks noGrp="1"/>
          </p:cNvSpPr>
          <p:nvPr>
            <p:ph idx="1"/>
          </p:nvPr>
        </p:nvSpPr>
        <p:spPr>
          <a:xfrm>
            <a:off x="1" y="718458"/>
            <a:ext cx="12092472" cy="6423488"/>
          </a:xfrm>
        </p:spPr>
        <p:txBody>
          <a:bodyPr>
            <a:normAutofit/>
          </a:bodyPr>
          <a:lstStyle/>
          <a:p>
            <a:r>
              <a:rPr lang="en-IN" dirty="0"/>
              <a:t>INSERT INTO Category</a:t>
            </a:r>
          </a:p>
          <a:p>
            <a:r>
              <a:rPr lang="en-IN" dirty="0"/>
              <a:t>*(</a:t>
            </a:r>
            <a:r>
              <a:rPr lang="en-IN" dirty="0" err="1"/>
              <a:t>Category_ID</a:t>
            </a:r>
            <a:r>
              <a:rPr lang="en-IN" dirty="0"/>
              <a:t>, </a:t>
            </a:r>
            <a:r>
              <a:rPr lang="en-IN" dirty="0" err="1"/>
              <a:t>Category_Name</a:t>
            </a:r>
            <a:r>
              <a:rPr lang="en-IN" dirty="0"/>
              <a:t>, Description)</a:t>
            </a:r>
          </a:p>
          <a:p>
            <a:r>
              <a:rPr lang="en-IN" dirty="0"/>
              <a:t> VALUES</a:t>
            </a:r>
          </a:p>
          <a:p>
            <a:r>
              <a:rPr lang="en-IN" dirty="0"/>
              <a:t> (1, 'Fiction', 'Fictional novels and literature’),</a:t>
            </a:r>
          </a:p>
          <a:p>
            <a:r>
              <a:rPr lang="en-IN" dirty="0"/>
              <a:t> (2, 'Science', 'Scientific journals and textbooks’),</a:t>
            </a:r>
          </a:p>
          <a:p>
            <a:r>
              <a:rPr lang="en-IN" dirty="0"/>
              <a:t> (3, 'Technology', 'Computer science and software engineering’);</a:t>
            </a:r>
          </a:p>
          <a:p>
            <a:r>
              <a:rPr lang="en-IN" dirty="0"/>
              <a:t> INSERT INTO Publisher</a:t>
            </a:r>
          </a:p>
          <a:p>
            <a:r>
              <a:rPr lang="en-IN" dirty="0"/>
              <a:t> (</a:t>
            </a:r>
            <a:r>
              <a:rPr lang="en-IN" dirty="0" err="1"/>
              <a:t>Publisher_ID</a:t>
            </a:r>
            <a:r>
              <a:rPr lang="en-IN" dirty="0"/>
              <a:t>, </a:t>
            </a:r>
            <a:r>
              <a:rPr lang="en-IN" dirty="0" err="1"/>
              <a:t>Publisher_Name</a:t>
            </a:r>
            <a:r>
              <a:rPr lang="en-IN" dirty="0"/>
              <a:t>, Email, Phone, Address)</a:t>
            </a:r>
          </a:p>
          <a:p>
            <a:r>
              <a:rPr lang="en-IN" dirty="0"/>
              <a:t> VALUES* (1, 'Pearson Education', 'contact@pearson.com', '9876543220’,'Delhi’),</a:t>
            </a:r>
          </a:p>
          <a:p>
            <a:r>
              <a:rPr lang="en-IN" dirty="0"/>
              <a:t> (2, 'Scribner', 'info@scribner.com', '9876543221', 'Mumbai’);</a:t>
            </a:r>
          </a:p>
          <a:p>
            <a:r>
              <a:rPr lang="en-IN" dirty="0"/>
              <a:t>INSERT INTO Author</a:t>
            </a:r>
          </a:p>
          <a:p>
            <a:r>
              <a:rPr lang="en-IN" dirty="0"/>
              <a:t> (</a:t>
            </a:r>
            <a:r>
              <a:rPr lang="en-IN" dirty="0" err="1"/>
              <a:t>Author_ID</a:t>
            </a:r>
            <a:r>
              <a:rPr lang="en-IN" dirty="0"/>
              <a:t>, </a:t>
            </a:r>
            <a:r>
              <a:rPr lang="en-IN" dirty="0" err="1"/>
              <a:t>Author_Name</a:t>
            </a:r>
            <a:r>
              <a:rPr lang="en-IN" dirty="0"/>
              <a:t>, Email, Phone, Address)</a:t>
            </a:r>
          </a:p>
        </p:txBody>
      </p:sp>
    </p:spTree>
    <p:extLst>
      <p:ext uri="{BB962C8B-B14F-4D97-AF65-F5344CB8AC3E}">
        <p14:creationId xmlns:p14="http://schemas.microsoft.com/office/powerpoint/2010/main" val="3317509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98BBA-A857-1F20-E128-35D79D3DE17D}"/>
              </a:ext>
            </a:extLst>
          </p:cNvPr>
          <p:cNvSpPr>
            <a:spLocks noGrp="1"/>
          </p:cNvSpPr>
          <p:nvPr>
            <p:ph idx="1"/>
          </p:nvPr>
        </p:nvSpPr>
        <p:spPr>
          <a:xfrm>
            <a:off x="721895" y="808522"/>
            <a:ext cx="10631905" cy="5368441"/>
          </a:xfrm>
        </p:spPr>
        <p:txBody>
          <a:bodyPr>
            <a:normAutofit/>
          </a:bodyPr>
          <a:lstStyle/>
          <a:p>
            <a:r>
              <a:rPr lang="en-US" dirty="0"/>
              <a:t>VALUES</a:t>
            </a:r>
          </a:p>
          <a:p>
            <a:r>
              <a:rPr lang="en-US" dirty="0"/>
              <a:t> (1, 'Abraham Silberschatz', 'silberschatz@gmail.com', '9876543230', 'Kolkata’),</a:t>
            </a:r>
          </a:p>
          <a:p>
            <a:r>
              <a:rPr lang="en-US" dirty="0"/>
              <a:t> (2, 'F. Scott Fitzgerald', 'fitzgerald@gmail.com', '9876543231', 'Delhi’);</a:t>
            </a:r>
          </a:p>
          <a:p>
            <a:r>
              <a:rPr lang="en-US" dirty="0"/>
              <a:t> INSERT INTO Librarian</a:t>
            </a:r>
          </a:p>
          <a:p>
            <a:r>
              <a:rPr lang="en-US" dirty="0"/>
              <a:t> (</a:t>
            </a:r>
            <a:r>
              <a:rPr lang="en-US" dirty="0" err="1"/>
              <a:t>Librarian_ID</a:t>
            </a:r>
            <a:r>
              <a:rPr lang="en-US" dirty="0"/>
              <a:t>, Name, Email, Phone, Salary)</a:t>
            </a:r>
          </a:p>
          <a:p>
            <a:r>
              <a:rPr lang="en-US" dirty="0"/>
              <a:t> VALUES</a:t>
            </a:r>
          </a:p>
          <a:p>
            <a:r>
              <a:rPr lang="en-US" dirty="0"/>
              <a:t> (1, 'Suresh Kumar', 'suresh@library.com', '9876543240', 45000.00),</a:t>
            </a:r>
          </a:p>
          <a:p>
            <a:r>
              <a:rPr lang="en-US" dirty="0"/>
              <a:t> (2, 'Anita Sharma', 'anita@library.com', '9876543241', 48000.00);</a:t>
            </a:r>
          </a:p>
          <a:p>
            <a:r>
              <a:rPr lang="en-US" dirty="0"/>
              <a:t> INSERT INTO Member</a:t>
            </a:r>
          </a:p>
        </p:txBody>
      </p:sp>
    </p:spTree>
    <p:extLst>
      <p:ext uri="{BB962C8B-B14F-4D97-AF65-F5344CB8AC3E}">
        <p14:creationId xmlns:p14="http://schemas.microsoft.com/office/powerpoint/2010/main" val="1484427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0468CC-25F0-BACE-7D20-283B68BD4256}"/>
              </a:ext>
            </a:extLst>
          </p:cNvPr>
          <p:cNvSpPr>
            <a:spLocks noGrp="1"/>
          </p:cNvSpPr>
          <p:nvPr>
            <p:ph idx="1"/>
          </p:nvPr>
        </p:nvSpPr>
        <p:spPr>
          <a:xfrm>
            <a:off x="539015" y="558264"/>
            <a:ext cx="10814785" cy="6299735"/>
          </a:xfrm>
        </p:spPr>
        <p:txBody>
          <a:bodyPr/>
          <a:lstStyle/>
          <a:p>
            <a:r>
              <a:rPr lang="en-IN" dirty="0"/>
              <a:t>(</a:t>
            </a:r>
            <a:r>
              <a:rPr lang="en-IN" dirty="0" err="1"/>
              <a:t>Member_ID</a:t>
            </a:r>
            <a:r>
              <a:rPr lang="en-IN" dirty="0"/>
              <a:t>, Name, Email, Phone, Address)</a:t>
            </a:r>
          </a:p>
          <a:p>
            <a:r>
              <a:rPr lang="en-IN" dirty="0"/>
              <a:t> VALUES</a:t>
            </a:r>
          </a:p>
          <a:p>
            <a:r>
              <a:rPr lang="en-IN" dirty="0"/>
              <a:t> (1, ‘Rishi', ‘rishi@gmail.com', '9876543210', 'Hyderabad’),</a:t>
            </a:r>
          </a:p>
          <a:p>
            <a:r>
              <a:rPr lang="en-IN" dirty="0"/>
              <a:t> (2, ‘Nandu', ‘nandu@gmail.com', '9876543211', 'Vijayawada’),</a:t>
            </a:r>
          </a:p>
          <a:p>
            <a:r>
              <a:rPr lang="en-IN" dirty="0"/>
              <a:t> (3, 'Priya', 'priya@gmail.com', '9876543212', 'Chennai’),</a:t>
            </a:r>
          </a:p>
          <a:p>
            <a:r>
              <a:rPr lang="en-IN" dirty="0"/>
              <a:t> (4, 'Kiran', 'kiran@gmail.com', '9876543213', 'Bangalore’);</a:t>
            </a:r>
          </a:p>
          <a:p>
            <a:r>
              <a:rPr lang="en-US" dirty="0"/>
              <a:t> INSERT INTO Book</a:t>
            </a:r>
          </a:p>
          <a:p>
            <a:r>
              <a:rPr lang="en-US" dirty="0"/>
              <a:t> (</a:t>
            </a:r>
            <a:r>
              <a:rPr lang="en-US" dirty="0" err="1"/>
              <a:t>Book_ID</a:t>
            </a:r>
            <a:r>
              <a:rPr lang="en-US" dirty="0"/>
              <a:t>, Title, ISBN, Price, </a:t>
            </a:r>
            <a:r>
              <a:rPr lang="en-US" dirty="0" err="1"/>
              <a:t>Category_ID</a:t>
            </a:r>
            <a:r>
              <a:rPr lang="en-US" dirty="0"/>
              <a:t>, </a:t>
            </a:r>
            <a:r>
              <a:rPr lang="en-US" dirty="0" err="1"/>
              <a:t>Publisher_ID</a:t>
            </a:r>
            <a:r>
              <a:rPr lang="en-US" dirty="0"/>
              <a:t>)</a:t>
            </a:r>
          </a:p>
          <a:p>
            <a:r>
              <a:rPr lang="en-US" dirty="0"/>
              <a:t> VALUES</a:t>
            </a:r>
          </a:p>
          <a:p>
            <a:r>
              <a:rPr lang="en-US" dirty="0"/>
              <a:t> (1, 'Database System Concepts', '9780073523323', 650.00, 3, 1),</a:t>
            </a:r>
          </a:p>
          <a:p>
            <a:r>
              <a:rPr lang="en-US" dirty="0"/>
              <a:t> (2, 'The Great Gatsby', '9780743273565', 350.00, 1, 2);</a:t>
            </a:r>
            <a:endParaRPr lang="en-IN" dirty="0"/>
          </a:p>
        </p:txBody>
      </p:sp>
    </p:spTree>
    <p:extLst>
      <p:ext uri="{BB962C8B-B14F-4D97-AF65-F5344CB8AC3E}">
        <p14:creationId xmlns:p14="http://schemas.microsoft.com/office/powerpoint/2010/main" val="3424314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19510E-0223-BA6B-EAF7-F09F8FCE6F62}"/>
              </a:ext>
            </a:extLst>
          </p:cNvPr>
          <p:cNvSpPr>
            <a:spLocks noGrp="1"/>
          </p:cNvSpPr>
          <p:nvPr>
            <p:ph idx="1"/>
          </p:nvPr>
        </p:nvSpPr>
        <p:spPr>
          <a:xfrm>
            <a:off x="529389" y="356135"/>
            <a:ext cx="10824411" cy="5820828"/>
          </a:xfrm>
        </p:spPr>
        <p:txBody>
          <a:bodyPr>
            <a:normAutofit fontScale="85000" lnSpcReduction="20000"/>
          </a:bodyPr>
          <a:lstStyle/>
          <a:p>
            <a:r>
              <a:rPr lang="en-US" dirty="0"/>
              <a:t> INSERT INTO Writes</a:t>
            </a:r>
          </a:p>
          <a:p>
            <a:r>
              <a:rPr lang="en-US" dirty="0"/>
              <a:t> (</a:t>
            </a:r>
            <a:r>
              <a:rPr lang="en-US" dirty="0" err="1"/>
              <a:t>Book_ID</a:t>
            </a:r>
            <a:r>
              <a:rPr lang="en-US" dirty="0"/>
              <a:t>, </a:t>
            </a:r>
            <a:r>
              <a:rPr lang="en-US" dirty="0" err="1"/>
              <a:t>Author_ID</a:t>
            </a:r>
            <a:r>
              <a:rPr lang="en-US" dirty="0"/>
              <a:t>)</a:t>
            </a:r>
          </a:p>
          <a:p>
            <a:r>
              <a:rPr lang="en-US" dirty="0"/>
              <a:t> VALUES</a:t>
            </a:r>
          </a:p>
          <a:p>
            <a:r>
              <a:rPr lang="en-US" dirty="0"/>
              <a:t> (1, 1),</a:t>
            </a:r>
          </a:p>
          <a:p>
            <a:r>
              <a:rPr lang="en-US" dirty="0"/>
              <a:t> (2, 2);</a:t>
            </a:r>
          </a:p>
          <a:p>
            <a:r>
              <a:rPr lang="en-US" dirty="0"/>
              <a:t> INSERT INTO Transaction</a:t>
            </a:r>
          </a:p>
          <a:p>
            <a:r>
              <a:rPr lang="en-US" dirty="0"/>
              <a:t> (</a:t>
            </a:r>
            <a:r>
              <a:rPr lang="en-US" dirty="0" err="1"/>
              <a:t>Transaction_ID</a:t>
            </a:r>
            <a:r>
              <a:rPr lang="en-US" dirty="0"/>
              <a:t>, </a:t>
            </a:r>
            <a:r>
              <a:rPr lang="en-US" dirty="0" err="1"/>
              <a:t>Issue_Date</a:t>
            </a:r>
            <a:r>
              <a:rPr lang="en-US" dirty="0"/>
              <a:t>, </a:t>
            </a:r>
            <a:r>
              <a:rPr lang="en-US" dirty="0" err="1"/>
              <a:t>Return_Date</a:t>
            </a:r>
            <a:r>
              <a:rPr lang="en-US" dirty="0"/>
              <a:t>, </a:t>
            </a:r>
            <a:r>
              <a:rPr lang="en-US" dirty="0" err="1"/>
              <a:t>Member_ID</a:t>
            </a:r>
            <a:r>
              <a:rPr lang="en-US" dirty="0"/>
              <a:t>, </a:t>
            </a:r>
            <a:r>
              <a:rPr lang="en-US" dirty="0" err="1"/>
              <a:t>Librarian_ID</a:t>
            </a:r>
            <a:r>
              <a:rPr lang="en-US" dirty="0"/>
              <a:t>)</a:t>
            </a:r>
          </a:p>
          <a:p>
            <a:r>
              <a:rPr lang="en-US" dirty="0"/>
              <a:t> VALUES</a:t>
            </a:r>
          </a:p>
          <a:p>
            <a:r>
              <a:rPr lang="en-US" dirty="0"/>
              <a:t> (1, '2026-09-01', '2026-09-15', 1, 1),</a:t>
            </a:r>
          </a:p>
          <a:p>
            <a:r>
              <a:rPr lang="en-US" dirty="0"/>
              <a:t> (2, '2026-09-05', NULL, 2, 2);</a:t>
            </a:r>
          </a:p>
          <a:p>
            <a:r>
              <a:rPr lang="en-US" dirty="0"/>
              <a:t> INSERT INTO Transaction_Book</a:t>
            </a:r>
          </a:p>
          <a:p>
            <a:r>
              <a:rPr lang="en-US" dirty="0"/>
              <a:t> (</a:t>
            </a:r>
            <a:r>
              <a:rPr lang="en-US" dirty="0" err="1"/>
              <a:t>Transaction_ID</a:t>
            </a:r>
            <a:r>
              <a:rPr lang="en-US" dirty="0"/>
              <a:t>, </a:t>
            </a:r>
            <a:r>
              <a:rPr lang="en-US" dirty="0" err="1"/>
              <a:t>Book_ID</a:t>
            </a:r>
            <a:r>
              <a:rPr lang="en-US" dirty="0"/>
              <a:t>)</a:t>
            </a:r>
          </a:p>
          <a:p>
            <a:r>
              <a:rPr lang="en-US" dirty="0"/>
              <a:t> VALUES</a:t>
            </a:r>
          </a:p>
          <a:p>
            <a:r>
              <a:rPr lang="en-US" dirty="0"/>
              <a:t> (1, 1),</a:t>
            </a:r>
          </a:p>
          <a:p>
            <a:r>
              <a:rPr lang="en-US" dirty="0"/>
              <a:t> (2, 2);</a:t>
            </a:r>
            <a:endParaRPr lang="en-IN" dirty="0"/>
          </a:p>
        </p:txBody>
      </p:sp>
    </p:spTree>
    <p:extLst>
      <p:ext uri="{BB962C8B-B14F-4D97-AF65-F5344CB8AC3E}">
        <p14:creationId xmlns:p14="http://schemas.microsoft.com/office/powerpoint/2010/main" val="1421439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F60F09-F483-9A96-3CD6-A5A986EF9F41}"/>
              </a:ext>
            </a:extLst>
          </p:cNvPr>
          <p:cNvSpPr>
            <a:spLocks noGrp="1"/>
          </p:cNvSpPr>
          <p:nvPr>
            <p:ph idx="1"/>
          </p:nvPr>
        </p:nvSpPr>
        <p:spPr>
          <a:xfrm>
            <a:off x="385011" y="269506"/>
            <a:ext cx="10651156" cy="5900287"/>
          </a:xfrm>
        </p:spPr>
        <p:txBody>
          <a:bodyPr/>
          <a:lstStyle/>
          <a:p>
            <a:r>
              <a:rPr lang="en-US" dirty="0"/>
              <a:t> INSERT INTO Fine</a:t>
            </a:r>
          </a:p>
          <a:p>
            <a:r>
              <a:rPr lang="en-US" dirty="0"/>
              <a:t> (</a:t>
            </a:r>
            <a:r>
              <a:rPr lang="en-US" dirty="0" err="1"/>
              <a:t>Fine_ID</a:t>
            </a:r>
            <a:r>
              <a:rPr lang="en-US" dirty="0"/>
              <a:t>, Amount, </a:t>
            </a:r>
            <a:r>
              <a:rPr lang="en-US" dirty="0" err="1"/>
              <a:t>Fine_Date</a:t>
            </a:r>
            <a:r>
              <a:rPr lang="en-US" dirty="0"/>
              <a:t>, </a:t>
            </a:r>
            <a:r>
              <a:rPr lang="en-US" dirty="0" err="1"/>
              <a:t>Payment_Status</a:t>
            </a:r>
            <a:r>
              <a:rPr lang="en-US" dirty="0"/>
              <a:t>, </a:t>
            </a:r>
            <a:r>
              <a:rPr lang="en-US" dirty="0" err="1"/>
              <a:t>Transaction_ID</a:t>
            </a:r>
            <a:r>
              <a:rPr lang="en-US" dirty="0"/>
              <a:t>)</a:t>
            </a:r>
          </a:p>
          <a:p>
            <a:r>
              <a:rPr lang="en-US" dirty="0"/>
              <a:t> VALUES</a:t>
            </a:r>
          </a:p>
          <a:p>
            <a:r>
              <a:rPr lang="en-US" dirty="0"/>
              <a:t> (1, 50.00, '2026-09-16', 'Pending', 1);</a:t>
            </a:r>
            <a:endParaRPr lang="en-IN" dirty="0"/>
          </a:p>
        </p:txBody>
      </p:sp>
    </p:spTree>
    <p:extLst>
      <p:ext uri="{BB962C8B-B14F-4D97-AF65-F5344CB8AC3E}">
        <p14:creationId xmlns:p14="http://schemas.microsoft.com/office/powerpoint/2010/main" val="2419174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69C88-735B-8518-DC5B-0DC33F395B1D}"/>
              </a:ext>
            </a:extLst>
          </p:cNvPr>
          <p:cNvSpPr>
            <a:spLocks noGrp="1"/>
          </p:cNvSpPr>
          <p:nvPr>
            <p:ph type="title"/>
          </p:nvPr>
        </p:nvSpPr>
        <p:spPr>
          <a:xfrm>
            <a:off x="838200" y="163630"/>
            <a:ext cx="10515600" cy="712270"/>
          </a:xfrm>
        </p:spPr>
        <p:txBody>
          <a:bodyPr/>
          <a:lstStyle/>
          <a:p>
            <a:pPr algn="ctr"/>
            <a:r>
              <a:rPr lang="en-IN" dirty="0"/>
              <a:t>DDL,DML,DQL OPERATIONS:</a:t>
            </a:r>
          </a:p>
        </p:txBody>
      </p:sp>
      <p:pic>
        <p:nvPicPr>
          <p:cNvPr id="6" name="Picture 5">
            <a:extLst>
              <a:ext uri="{FF2B5EF4-FFF2-40B4-BE49-F238E27FC236}">
                <a16:creationId xmlns:a16="http://schemas.microsoft.com/office/drawing/2014/main" id="{946F92CE-B367-4169-1938-91BE612AF4CE}"/>
              </a:ext>
            </a:extLst>
          </p:cNvPr>
          <p:cNvPicPr>
            <a:picLocks noChangeAspect="1"/>
          </p:cNvPicPr>
          <p:nvPr/>
        </p:nvPicPr>
        <p:blipFill>
          <a:blip r:embed="rId2"/>
          <a:stretch>
            <a:fillRect/>
          </a:stretch>
        </p:blipFill>
        <p:spPr>
          <a:xfrm>
            <a:off x="457200" y="1026366"/>
            <a:ext cx="11513976" cy="5561045"/>
          </a:xfrm>
          <a:prstGeom prst="rect">
            <a:avLst/>
          </a:prstGeom>
        </p:spPr>
      </p:pic>
    </p:spTree>
    <p:extLst>
      <p:ext uri="{BB962C8B-B14F-4D97-AF65-F5344CB8AC3E}">
        <p14:creationId xmlns:p14="http://schemas.microsoft.com/office/powerpoint/2010/main" val="2767405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4E8C9-E088-DDB0-011F-068413E096FB}"/>
              </a:ext>
            </a:extLst>
          </p:cNvPr>
          <p:cNvSpPr>
            <a:spLocks noGrp="1"/>
          </p:cNvSpPr>
          <p:nvPr>
            <p:ph type="title"/>
          </p:nvPr>
        </p:nvSpPr>
        <p:spPr>
          <a:xfrm>
            <a:off x="838200" y="114868"/>
            <a:ext cx="10515600" cy="789907"/>
          </a:xfrm>
        </p:spPr>
        <p:txBody>
          <a:bodyPr/>
          <a:lstStyle/>
          <a:p>
            <a:pPr algn="ctr"/>
            <a:r>
              <a:rPr lang="en-IN" dirty="0"/>
              <a:t>CRUD&amp;SQL QUERIES:</a:t>
            </a:r>
          </a:p>
        </p:txBody>
      </p:sp>
      <p:pic>
        <p:nvPicPr>
          <p:cNvPr id="7" name="Picture 6">
            <a:extLst>
              <a:ext uri="{FF2B5EF4-FFF2-40B4-BE49-F238E27FC236}">
                <a16:creationId xmlns:a16="http://schemas.microsoft.com/office/drawing/2014/main" id="{2E6862E4-B7CE-78F3-6D20-997AA36C4F02}"/>
              </a:ext>
            </a:extLst>
          </p:cNvPr>
          <p:cNvPicPr>
            <a:picLocks noChangeAspect="1"/>
          </p:cNvPicPr>
          <p:nvPr/>
        </p:nvPicPr>
        <p:blipFill>
          <a:blip r:embed="rId2"/>
          <a:stretch>
            <a:fillRect/>
          </a:stretch>
        </p:blipFill>
        <p:spPr>
          <a:xfrm>
            <a:off x="177282" y="809625"/>
            <a:ext cx="11625942" cy="5852432"/>
          </a:xfrm>
          <a:prstGeom prst="rect">
            <a:avLst/>
          </a:prstGeom>
        </p:spPr>
      </p:pic>
    </p:spTree>
    <p:extLst>
      <p:ext uri="{BB962C8B-B14F-4D97-AF65-F5344CB8AC3E}">
        <p14:creationId xmlns:p14="http://schemas.microsoft.com/office/powerpoint/2010/main" val="714939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EA10F-825A-4629-AB56-F6D515B00012}"/>
              </a:ext>
            </a:extLst>
          </p:cNvPr>
          <p:cNvSpPr>
            <a:spLocks noGrp="1"/>
          </p:cNvSpPr>
          <p:nvPr>
            <p:ph type="title"/>
          </p:nvPr>
        </p:nvSpPr>
        <p:spPr>
          <a:xfrm>
            <a:off x="838200" y="77002"/>
            <a:ext cx="10515600" cy="847023"/>
          </a:xfrm>
        </p:spPr>
        <p:txBody>
          <a:bodyPr/>
          <a:lstStyle/>
          <a:p>
            <a:pPr algn="ctr"/>
            <a:r>
              <a:rPr lang="en-IN" dirty="0"/>
              <a:t>DATA INTEGRITY&amp;VALIDATION:</a:t>
            </a:r>
          </a:p>
        </p:txBody>
      </p:sp>
      <p:pic>
        <p:nvPicPr>
          <p:cNvPr id="7" name="Picture 6">
            <a:extLst>
              <a:ext uri="{FF2B5EF4-FFF2-40B4-BE49-F238E27FC236}">
                <a16:creationId xmlns:a16="http://schemas.microsoft.com/office/drawing/2014/main" id="{8525AE56-4A6E-4FF1-D450-A7C35209F9A7}"/>
              </a:ext>
            </a:extLst>
          </p:cNvPr>
          <p:cNvPicPr>
            <a:picLocks noChangeAspect="1"/>
          </p:cNvPicPr>
          <p:nvPr/>
        </p:nvPicPr>
        <p:blipFill>
          <a:blip r:embed="rId2"/>
          <a:stretch>
            <a:fillRect/>
          </a:stretch>
        </p:blipFill>
        <p:spPr>
          <a:xfrm>
            <a:off x="578497" y="1296954"/>
            <a:ext cx="11234057" cy="5309119"/>
          </a:xfrm>
          <a:prstGeom prst="rect">
            <a:avLst/>
          </a:prstGeom>
        </p:spPr>
      </p:pic>
    </p:spTree>
    <p:extLst>
      <p:ext uri="{BB962C8B-B14F-4D97-AF65-F5344CB8AC3E}">
        <p14:creationId xmlns:p14="http://schemas.microsoft.com/office/powerpoint/2010/main" val="2402658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6913B-9459-CEF2-601F-3445DE40806C}"/>
              </a:ext>
            </a:extLst>
          </p:cNvPr>
          <p:cNvSpPr>
            <a:spLocks noGrp="1"/>
          </p:cNvSpPr>
          <p:nvPr>
            <p:ph type="title"/>
          </p:nvPr>
        </p:nvSpPr>
        <p:spPr>
          <a:xfrm>
            <a:off x="838200" y="115504"/>
            <a:ext cx="10515600" cy="712270"/>
          </a:xfrm>
        </p:spPr>
        <p:txBody>
          <a:bodyPr/>
          <a:lstStyle/>
          <a:p>
            <a:pPr algn="ctr"/>
            <a:r>
              <a:rPr lang="en-IN" dirty="0"/>
              <a:t>PROJECT DOCUMENTATION:</a:t>
            </a:r>
          </a:p>
        </p:txBody>
      </p:sp>
      <p:sp>
        <p:nvSpPr>
          <p:cNvPr id="3" name="Content Placeholder 2">
            <a:extLst>
              <a:ext uri="{FF2B5EF4-FFF2-40B4-BE49-F238E27FC236}">
                <a16:creationId xmlns:a16="http://schemas.microsoft.com/office/drawing/2014/main" id="{7B81934F-A7EF-743E-FEF8-95DDCDC7A85B}"/>
              </a:ext>
            </a:extLst>
          </p:cNvPr>
          <p:cNvSpPr>
            <a:spLocks noGrp="1"/>
          </p:cNvSpPr>
          <p:nvPr>
            <p:ph idx="1"/>
          </p:nvPr>
        </p:nvSpPr>
        <p:spPr>
          <a:xfrm>
            <a:off x="279918" y="972152"/>
            <a:ext cx="11793894" cy="5885848"/>
          </a:xfrm>
        </p:spPr>
        <p:txBody>
          <a:bodyPr>
            <a:noAutofit/>
          </a:bodyPr>
          <a:lstStyle/>
          <a:p>
            <a:r>
              <a:rPr lang="en-IN" sz="1800" dirty="0"/>
              <a:t>Your LMS documentation is well-structured and technically sound up to Section 6. Here are the core strengths, quick fixes, and remaining sections needed to complete it.</a:t>
            </a:r>
          </a:p>
          <a:p>
            <a:r>
              <a:rPr lang="en-IN" sz="1800" b="1" dirty="0"/>
              <a:t>Strengths</a:t>
            </a:r>
            <a:endParaRPr lang="en-IN" sz="1800" dirty="0"/>
          </a:p>
          <a:p>
            <a:pPr lvl="0"/>
            <a:r>
              <a:rPr lang="en-IN" sz="1800" b="1" dirty="0"/>
              <a:t>3NF Compliance:</a:t>
            </a:r>
            <a:r>
              <a:rPr lang="en-IN" sz="1800" dirty="0"/>
              <a:t> Normalization steps clearly justify eliminating redundancy across all 6 entities.</a:t>
            </a:r>
          </a:p>
          <a:p>
            <a:pPr lvl="0"/>
            <a:r>
              <a:rPr lang="en-IN" sz="1800" b="1" dirty="0"/>
              <a:t>Proper Cardinality:</a:t>
            </a:r>
            <a:r>
              <a:rPr lang="en-IN" sz="1800" dirty="0"/>
              <a:t> Correctly models the many-to-many relationship between books and authors via </a:t>
            </a:r>
            <a:r>
              <a:rPr lang="en-IN" sz="1800" dirty="0" err="1"/>
              <a:t>Book_Authors</a:t>
            </a:r>
            <a:r>
              <a:rPr lang="en-IN" sz="1800" dirty="0"/>
              <a:t>.</a:t>
            </a:r>
          </a:p>
          <a:p>
            <a:r>
              <a:rPr lang="en-IN" sz="1800" b="1" dirty="0"/>
              <a:t>Quick Fixes Needed</a:t>
            </a:r>
            <a:endParaRPr lang="en-IN" sz="1800" dirty="0"/>
          </a:p>
          <a:p>
            <a:pPr lvl="0"/>
            <a:r>
              <a:rPr lang="en-IN" sz="1800" b="1" dirty="0"/>
              <a:t>Align Member Attributes:</a:t>
            </a:r>
            <a:r>
              <a:rPr lang="en-IN" sz="1800" dirty="0"/>
              <a:t> Add the status column to Section 6.2 so it matches Section 6.5.</a:t>
            </a:r>
          </a:p>
          <a:p>
            <a:pPr lvl="0"/>
            <a:r>
              <a:rPr lang="en-IN" sz="1800" b="1" dirty="0"/>
              <a:t>Add Bridge Table Attributes:</a:t>
            </a:r>
            <a:r>
              <a:rPr lang="en-IN" sz="1800" dirty="0"/>
              <a:t> Include </a:t>
            </a:r>
            <a:r>
              <a:rPr lang="en-IN" sz="1800" dirty="0" err="1"/>
              <a:t>Book_Authors</a:t>
            </a:r>
            <a:r>
              <a:rPr lang="en-IN" sz="1800" dirty="0"/>
              <a:t> in Section 6.2 using a composite primary key (</a:t>
            </a:r>
            <a:r>
              <a:rPr lang="en-IN" sz="1800" dirty="0" err="1"/>
              <a:t>book_id</a:t>
            </a:r>
            <a:r>
              <a:rPr lang="en-IN" sz="1800" dirty="0"/>
              <a:t>, </a:t>
            </a:r>
            <a:r>
              <a:rPr lang="en-IN" sz="1800" dirty="0" err="1"/>
              <a:t>author_id</a:t>
            </a:r>
            <a:r>
              <a:rPr lang="en-IN" sz="1800" dirty="0"/>
              <a:t>).</a:t>
            </a:r>
          </a:p>
          <a:p>
            <a:pPr lvl="0"/>
            <a:r>
              <a:rPr lang="en-IN" sz="1800" b="1" dirty="0"/>
              <a:t>Handle Derived Fields:</a:t>
            </a:r>
            <a:r>
              <a:rPr lang="en-IN" sz="1800" dirty="0"/>
              <a:t> Plan to calculate </a:t>
            </a:r>
            <a:r>
              <a:rPr lang="en-IN" sz="1800" dirty="0" err="1"/>
              <a:t>available_copies</a:t>
            </a:r>
            <a:r>
              <a:rPr lang="en-IN" sz="1800" dirty="0"/>
              <a:t>, </a:t>
            </a:r>
            <a:r>
              <a:rPr lang="en-IN" sz="1800" dirty="0" err="1"/>
              <a:t>due_date</a:t>
            </a:r>
            <a:r>
              <a:rPr lang="en-IN" sz="1800" dirty="0"/>
              <a:t>, and </a:t>
            </a:r>
            <a:r>
              <a:rPr lang="en-IN" sz="1800" dirty="0" err="1"/>
              <a:t>fine_amount</a:t>
            </a:r>
            <a:r>
              <a:rPr lang="en-IN" sz="1800" dirty="0"/>
              <a:t> dynamically in SQL using triggers or views rather than storing raw values.</a:t>
            </a:r>
          </a:p>
          <a:p>
            <a:r>
              <a:rPr lang="en-IN" sz="1800" b="1" dirty="0"/>
              <a:t>Next Steps to Complete Section 7 Onward</a:t>
            </a:r>
            <a:endParaRPr lang="en-IN" sz="1800" dirty="0"/>
          </a:p>
          <a:p>
            <a:pPr lvl="0"/>
            <a:r>
              <a:rPr lang="en-IN" sz="1800" b="1" dirty="0"/>
              <a:t>7.1 DDL Script:</a:t>
            </a:r>
            <a:r>
              <a:rPr lang="en-IN" sz="1800" dirty="0"/>
              <a:t> Write standard CREATE TABLE statements with primary keys, foreign keys, and CHECK constraints.</a:t>
            </a:r>
          </a:p>
          <a:p>
            <a:pPr lvl="0"/>
            <a:r>
              <a:rPr lang="en-IN" sz="1800" b="1" dirty="0"/>
              <a:t>7.2 &amp; 7.3 DML &amp; Integrity:</a:t>
            </a:r>
            <a:r>
              <a:rPr lang="en-IN" sz="1800" dirty="0"/>
              <a:t> Insert sample data and list validation rules used to enforce referential integrity.</a:t>
            </a:r>
          </a:p>
          <a:p>
            <a:pPr lvl="0"/>
            <a:r>
              <a:rPr lang="en-IN" sz="1800" b="1" dirty="0"/>
              <a:t>7.4 SQL Queries:</a:t>
            </a:r>
            <a:r>
              <a:rPr lang="en-IN" sz="1800" dirty="0"/>
              <a:t> Write 4–5 core queries covering multi-table JOIN operations, aggregate counts, and active loan views.</a:t>
            </a:r>
          </a:p>
          <a:p>
            <a:pPr lvl="0"/>
            <a:r>
              <a:rPr lang="en-IN" sz="1800" b="1" dirty="0"/>
              <a:t>8 Modules:</a:t>
            </a:r>
            <a:r>
              <a:rPr lang="en-IN" sz="1800" dirty="0"/>
              <a:t> Create a short summary table mapping </a:t>
            </a:r>
            <a:r>
              <a:rPr lang="en-IN" sz="1800" dirty="0" err="1"/>
              <a:t>cataloging</a:t>
            </a:r>
            <a:r>
              <a:rPr lang="en-IN" sz="1800" dirty="0"/>
              <a:t>, circulation, and fine processing functions.</a:t>
            </a:r>
          </a:p>
          <a:p>
            <a:pPr lvl="0"/>
            <a:r>
              <a:rPr lang="en-IN" sz="1800" b="1" dirty="0"/>
              <a:t>9–12 Wrap-Up:</a:t>
            </a:r>
            <a:r>
              <a:rPr lang="en-IN" sz="1800" dirty="0"/>
              <a:t> Fill in team responsibilities, future improvements (e.g., role-based access control), and the project conclusion</a:t>
            </a:r>
          </a:p>
        </p:txBody>
      </p:sp>
    </p:spTree>
    <p:extLst>
      <p:ext uri="{BB962C8B-B14F-4D97-AF65-F5344CB8AC3E}">
        <p14:creationId xmlns:p14="http://schemas.microsoft.com/office/powerpoint/2010/main" val="3404663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FE7A0-1849-8F77-5845-98163EBFA840}"/>
              </a:ext>
            </a:extLst>
          </p:cNvPr>
          <p:cNvSpPr>
            <a:spLocks noGrp="1"/>
          </p:cNvSpPr>
          <p:nvPr>
            <p:ph type="title"/>
          </p:nvPr>
        </p:nvSpPr>
        <p:spPr>
          <a:xfrm>
            <a:off x="838200" y="77003"/>
            <a:ext cx="10515600" cy="731519"/>
          </a:xfrm>
        </p:spPr>
        <p:txBody>
          <a:bodyPr/>
          <a:lstStyle/>
          <a:p>
            <a:pPr algn="ctr"/>
            <a:r>
              <a:rPr lang="en-IN" dirty="0"/>
              <a:t>DEMONSTRATE&amp;PRESENT:</a:t>
            </a:r>
          </a:p>
        </p:txBody>
      </p:sp>
      <p:pic>
        <p:nvPicPr>
          <p:cNvPr id="7" name="Picture 6">
            <a:extLst>
              <a:ext uri="{FF2B5EF4-FFF2-40B4-BE49-F238E27FC236}">
                <a16:creationId xmlns:a16="http://schemas.microsoft.com/office/drawing/2014/main" id="{1394DE55-A6FA-2148-3902-CAD7738EAEF6}"/>
              </a:ext>
            </a:extLst>
          </p:cNvPr>
          <p:cNvPicPr>
            <a:picLocks noChangeAspect="1"/>
          </p:cNvPicPr>
          <p:nvPr/>
        </p:nvPicPr>
        <p:blipFill>
          <a:blip r:embed="rId2"/>
          <a:stretch>
            <a:fillRect/>
          </a:stretch>
        </p:blipFill>
        <p:spPr>
          <a:xfrm>
            <a:off x="569167" y="808521"/>
            <a:ext cx="11056775" cy="5972475"/>
          </a:xfrm>
          <a:prstGeom prst="rect">
            <a:avLst/>
          </a:prstGeom>
        </p:spPr>
      </p:pic>
    </p:spTree>
    <p:extLst>
      <p:ext uri="{BB962C8B-B14F-4D97-AF65-F5344CB8AC3E}">
        <p14:creationId xmlns:p14="http://schemas.microsoft.com/office/powerpoint/2010/main" val="3810125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D965-0890-500A-1C03-E5C586918D3E}"/>
              </a:ext>
            </a:extLst>
          </p:cNvPr>
          <p:cNvSpPr>
            <a:spLocks noGrp="1"/>
          </p:cNvSpPr>
          <p:nvPr>
            <p:ph type="title"/>
          </p:nvPr>
        </p:nvSpPr>
        <p:spPr>
          <a:xfrm>
            <a:off x="838200" y="77002"/>
            <a:ext cx="10515600" cy="721895"/>
          </a:xfrm>
        </p:spPr>
        <p:txBody>
          <a:bodyPr>
            <a:normAutofit/>
          </a:bodyPr>
          <a:lstStyle/>
          <a:p>
            <a:pPr algn="ctr"/>
            <a:r>
              <a:rPr lang="en-IN" dirty="0"/>
              <a:t>CONCLUSION:</a:t>
            </a:r>
          </a:p>
        </p:txBody>
      </p:sp>
      <p:sp>
        <p:nvSpPr>
          <p:cNvPr id="3" name="Content Placeholder 2">
            <a:extLst>
              <a:ext uri="{FF2B5EF4-FFF2-40B4-BE49-F238E27FC236}">
                <a16:creationId xmlns:a16="http://schemas.microsoft.com/office/drawing/2014/main" id="{99995888-A35E-A3E6-B0D5-2EF0E12203C3}"/>
              </a:ext>
            </a:extLst>
          </p:cNvPr>
          <p:cNvSpPr>
            <a:spLocks noGrp="1"/>
          </p:cNvSpPr>
          <p:nvPr>
            <p:ph idx="1"/>
          </p:nvPr>
        </p:nvSpPr>
        <p:spPr>
          <a:xfrm>
            <a:off x="770021" y="798897"/>
            <a:ext cx="10583779" cy="5378066"/>
          </a:xfrm>
        </p:spPr>
        <p:txBody>
          <a:bodyPr>
            <a:normAutofit/>
          </a:bodyPr>
          <a:lstStyle/>
          <a:p>
            <a:r>
              <a:rPr lang="en-IN" b="1" dirty="0"/>
              <a:t>Database Design</a:t>
            </a:r>
            <a:r>
              <a:rPr lang="en-IN" dirty="0"/>
              <a:t>: Built using interconnected tables (</a:t>
            </a:r>
            <a:r>
              <a:rPr lang="en-IN" b="1" dirty="0"/>
              <a:t>Members</a:t>
            </a:r>
            <a:r>
              <a:rPr lang="en-IN" dirty="0"/>
              <a:t>, </a:t>
            </a:r>
            <a:r>
              <a:rPr lang="en-IN" b="1" dirty="0"/>
              <a:t>Books</a:t>
            </a:r>
            <a:r>
              <a:rPr lang="en-IN" dirty="0"/>
              <a:t>, </a:t>
            </a:r>
            <a:r>
              <a:rPr lang="en-IN" b="1" dirty="0"/>
              <a:t>Transactions</a:t>
            </a:r>
            <a:r>
              <a:rPr lang="en-IN" dirty="0"/>
              <a:t>, </a:t>
            </a:r>
            <a:r>
              <a:rPr lang="en-IN" b="1" dirty="0"/>
              <a:t>Authors</a:t>
            </a:r>
            <a:r>
              <a:rPr lang="en-IN" dirty="0"/>
              <a:t>, </a:t>
            </a:r>
            <a:r>
              <a:rPr lang="en-IN" b="1" dirty="0"/>
              <a:t>Categories</a:t>
            </a:r>
            <a:r>
              <a:rPr lang="en-IN" dirty="0"/>
              <a:t>) with strict </a:t>
            </a:r>
            <a:r>
              <a:rPr lang="en-IN" b="1" dirty="0"/>
              <a:t>PRIMARY KEY</a:t>
            </a:r>
            <a:r>
              <a:rPr lang="en-IN" dirty="0"/>
              <a:t>, </a:t>
            </a:r>
            <a:r>
              <a:rPr lang="en-IN" b="1" dirty="0"/>
              <a:t>FOREIGN KEY</a:t>
            </a:r>
            <a:r>
              <a:rPr lang="en-IN" dirty="0"/>
              <a:t>, and validation checks to prevent duplicate IDs. </a:t>
            </a:r>
          </a:p>
          <a:p>
            <a:r>
              <a:rPr lang="en-IN" b="1" dirty="0"/>
              <a:t>Implementation</a:t>
            </a:r>
            <a:r>
              <a:rPr lang="en-IN" dirty="0"/>
              <a:t>: Utilized </a:t>
            </a:r>
            <a:r>
              <a:rPr lang="en-IN" b="1" dirty="0"/>
              <a:t>DDL, DML, DQL</a:t>
            </a:r>
            <a:r>
              <a:rPr lang="en-IN" dirty="0"/>
              <a:t>, advanced joins, aggregate functions, views, and </a:t>
            </a:r>
            <a:r>
              <a:rPr lang="en-IN" b="1" dirty="0"/>
              <a:t>PostgreSQL</a:t>
            </a:r>
            <a:r>
              <a:rPr lang="en-IN" dirty="0"/>
              <a:t> with ACID compliance. </a:t>
            </a:r>
          </a:p>
          <a:p>
            <a:r>
              <a:rPr lang="en-IN" b="1" dirty="0"/>
              <a:t>Key Learnings</a:t>
            </a:r>
            <a:r>
              <a:rPr lang="en-IN" dirty="0"/>
              <a:t>: Learned the importance of relational constraints, query optimization, automated fine management, and clean data integrity rules. </a:t>
            </a:r>
          </a:p>
          <a:p>
            <a:r>
              <a:rPr lang="en-IN" b="1" dirty="0"/>
              <a:t>Future Enhancements</a:t>
            </a:r>
            <a:r>
              <a:rPr lang="en-IN" dirty="0"/>
              <a:t>: Plans to add automated book reservation alerts, a Redis caching layer, and real-time overdue analytics dashboards. </a:t>
            </a:r>
          </a:p>
        </p:txBody>
      </p:sp>
    </p:spTree>
    <p:extLst>
      <p:ext uri="{BB962C8B-B14F-4D97-AF65-F5344CB8AC3E}">
        <p14:creationId xmlns:p14="http://schemas.microsoft.com/office/powerpoint/2010/main" val="4117390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607A6B-FE9D-3958-8F50-5D5108A11442}"/>
              </a:ext>
            </a:extLst>
          </p:cNvPr>
          <p:cNvSpPr>
            <a:spLocks noGrp="1"/>
          </p:cNvSpPr>
          <p:nvPr>
            <p:ph idx="1"/>
          </p:nvPr>
        </p:nvSpPr>
        <p:spPr>
          <a:xfrm>
            <a:off x="3465095" y="3089711"/>
            <a:ext cx="9746380" cy="1280160"/>
          </a:xfrm>
        </p:spPr>
        <p:txBody>
          <a:bodyPr>
            <a:normAutofit/>
          </a:bodyPr>
          <a:lstStyle/>
          <a:p>
            <a:pPr marL="0" indent="0">
              <a:buNone/>
            </a:pPr>
            <a:r>
              <a:rPr lang="en-IN" sz="4400" dirty="0">
                <a:solidFill>
                  <a:schemeClr val="accent6">
                    <a:lumMod val="75000"/>
                  </a:schemeClr>
                </a:solidFill>
              </a:rPr>
              <a:t>THANK YOU</a:t>
            </a:r>
            <a:endParaRPr lang="en-IN" sz="4400" dirty="0"/>
          </a:p>
        </p:txBody>
      </p:sp>
    </p:spTree>
    <p:extLst>
      <p:ext uri="{BB962C8B-B14F-4D97-AF65-F5344CB8AC3E}">
        <p14:creationId xmlns:p14="http://schemas.microsoft.com/office/powerpoint/2010/main" val="1331253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TotalTime>
  <Words>2264</Words>
  <Application>Microsoft Office PowerPoint</Application>
  <PresentationFormat>Widescreen</PresentationFormat>
  <Paragraphs>212</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Arial Black</vt:lpstr>
      <vt:lpstr>Calibri</vt:lpstr>
      <vt:lpstr>Calibri Light</vt:lpstr>
      <vt:lpstr>Cambria Math</vt:lpstr>
      <vt:lpstr>Inter</vt:lpstr>
      <vt:lpstr>Times New Roman</vt:lpstr>
      <vt:lpstr>Office Theme</vt:lpstr>
      <vt:lpstr>Database Management Systems Cornerstone Project Final Review (Review I &amp; II)</vt:lpstr>
      <vt:lpstr>Presentation outline:</vt:lpstr>
      <vt:lpstr>  </vt:lpstr>
      <vt:lpstr>Problem Statement:</vt:lpstr>
      <vt:lpstr>Objectives:</vt:lpstr>
      <vt:lpstr>PowerPoint Presentation</vt:lpstr>
      <vt:lpstr>ENTITIES&amp;ATTRIBUTES:</vt:lpstr>
      <vt:lpstr>PowerPoint Presentation</vt:lpstr>
      <vt:lpstr>PowerPoint Presentation</vt:lpstr>
      <vt:lpstr>PowerPoint Presentation</vt:lpstr>
      <vt:lpstr>PowerPoint Presentation</vt:lpstr>
      <vt:lpstr>DATABASE&amp;CONSTRAINTS:</vt:lpstr>
      <vt:lpstr>PowerPoint Presentation</vt:lpstr>
      <vt:lpstr>PowerPoint Presentation</vt:lpstr>
      <vt:lpstr>PowerPoint Presentation</vt:lpstr>
      <vt:lpstr>SAMPLE DATA INSERTION:</vt:lpstr>
      <vt:lpstr>PowerPoint Presentation</vt:lpstr>
      <vt:lpstr>PowerPoint Presentation</vt:lpstr>
      <vt:lpstr>PowerPoint Presentation</vt:lpstr>
      <vt:lpstr>PowerPoint Presentation</vt:lpstr>
      <vt:lpstr>DDL,DML,DQL OPERATIONS:</vt:lpstr>
      <vt:lpstr>CRUD&amp;SQL QUERIES:</vt:lpstr>
      <vt:lpstr>DATA INTEGRITY&amp;VALIDATION:</vt:lpstr>
      <vt:lpstr>PROJECT DOCUMENTATION:</vt:lpstr>
      <vt:lpstr>DEMONSTRATE&amp;PRESENT: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 Cornerstone Project Final Review (Review I &amp; II)</dc:title>
  <dc:creator>HP</dc:creator>
  <cp:lastModifiedBy>Bondu Divyateja</cp:lastModifiedBy>
  <cp:revision>6</cp:revision>
  <dcterms:created xsi:type="dcterms:W3CDTF">2026-09-13T13:47:22Z</dcterms:created>
  <dcterms:modified xsi:type="dcterms:W3CDTF">2026-09-19T11:23:11Z</dcterms:modified>
</cp:coreProperties>
</file>